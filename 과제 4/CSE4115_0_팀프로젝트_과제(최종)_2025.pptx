
<file path=[Content_Types].xml><?xml version="1.0" encoding="utf-8"?>
<Types xmlns="http://schemas.openxmlformats.org/package/2006/content-types"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811" r:id="rId3"/>
    <p:sldId id="779" r:id="rId4"/>
    <p:sldId id="2683" r:id="rId5"/>
    <p:sldId id="270" r:id="rId6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74080" autoAdjust="0"/>
  </p:normalViewPr>
  <p:slideViewPr>
    <p:cSldViewPr snapToGrid="0" snapToObjects="1">
      <p:cViewPr varScale="1">
        <p:scale>
          <a:sx n="40" d="100"/>
          <a:sy n="40" d="100"/>
        </p:scale>
        <p:origin x="672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644"/>
    </p:cViewPr>
  </p:sorterViewPr>
  <p:notesViewPr>
    <p:cSldViewPr snapToGrid="0" snapToObjects="1">
      <p:cViewPr varScale="1">
        <p:scale>
          <a:sx n="75" d="100"/>
          <a:sy n="75" d="100"/>
        </p:scale>
        <p:origin x="27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406" cy="497413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30813"/>
            <a:ext cx="2945406" cy="49741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750" y="9430813"/>
            <a:ext cx="2945405" cy="49741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r">
              <a:defRPr sz="1200"/>
            </a:lvl1pPr>
          </a:lstStyle>
          <a:p>
            <a:fld id="{4F0DB0A5-66E7-49B7-BA7A-557FFA7E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4082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5568" tIns="47784" rIns="95568" bIns="4778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5568" tIns="47784" rIns="95568" bIns="47784" rtlCol="0"/>
          <a:lstStyle>
            <a:lvl1pPr algn="r">
              <a:defRPr sz="1300"/>
            </a:lvl1pPr>
          </a:lstStyle>
          <a:p>
            <a:fld id="{871BFB05-34A1-3545-86B3-8557F70CEEF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8" tIns="47784" rIns="95568" bIns="477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5568" tIns="47784" rIns="95568" bIns="4778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5568" tIns="47784" rIns="95568" bIns="4778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5568" tIns="47784" rIns="95568" bIns="47784" rtlCol="0" anchor="b"/>
          <a:lstStyle>
            <a:lvl1pPr algn="r">
              <a:defRPr sz="1300"/>
            </a:lvl1pPr>
          </a:lstStyle>
          <a:p>
            <a:fld id="{0B94CCC0-6084-0D4B-8BC8-7C2C2C167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544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5361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altLang="ko-KR" dirty="0"/>
              <a:t>Click to edit Master title style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F1B5-F791-C148-A17C-407912F45115}" type="datetime1">
              <a:rPr lang="ko-KR" altLang="en-US" smtClean="0"/>
              <a:t>2025-11-24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8B1FF-3FA7-3E47-A553-4A4DADC36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18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741" y="141485"/>
            <a:ext cx="11186146" cy="553378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8395"/>
            <a:ext cx="2743200" cy="365125"/>
          </a:xfrm>
        </p:spPr>
        <p:txBody>
          <a:bodyPr/>
          <a:lstStyle/>
          <a:p>
            <a:fld id="{8B425290-A52B-E146-90F6-15CF546A83C4}" type="datetime1">
              <a:rPr lang="ko-KR" altLang="en-US" smtClean="0"/>
              <a:t>2025-11-24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8395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48E2B7-3549-0345-5BED-798B6BD82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7886" y="6500928"/>
            <a:ext cx="542648" cy="25695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8B1FF-3FA7-3E47-A553-4A4DADC366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81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810B4-95D2-7A4C-96D4-2531BF88ACBF}" type="datetime1">
              <a:rPr lang="ko-KR" altLang="en-US" smtClean="0"/>
              <a:t>2025-11-24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8B1FF-3FA7-3E47-A553-4A4DADC3666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24E04E-5037-21D0-2EA3-1F7BD268C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913479"/>
            <a:ext cx="11585880" cy="5249660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304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1625-8702-294D-B966-549C6EC129F4}" type="datetime1">
              <a:rPr lang="ko-KR" altLang="en-US" smtClean="0"/>
              <a:t>2025-11-24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34716" y="6492050"/>
            <a:ext cx="542648" cy="256951"/>
          </a:xfrm>
        </p:spPr>
        <p:txBody>
          <a:bodyPr/>
          <a:lstStyle/>
          <a:p>
            <a:fld id="{2B48B1FF-3FA7-3E47-A553-4A4DADC3666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295846-6895-0792-2FFE-E4D3A6915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913479"/>
            <a:ext cx="11160669" cy="5249660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B6A536-951C-6ACB-1809-5F4D2B85C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495" y="141484"/>
            <a:ext cx="11168391" cy="663819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0234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9495" y="141484"/>
            <a:ext cx="11585880" cy="6638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9495" y="913479"/>
            <a:ext cx="11577869" cy="5249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645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8677D-8D6C-694F-A320-DD1B0BD33CD5}" type="datetime1">
              <a:rPr lang="ko-KR" altLang="en-US" smtClean="0"/>
              <a:t>2025-11-24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645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cxnSp>
        <p:nvCxnSpPr>
          <p:cNvPr id="16" name="Straight Connector 8">
            <a:extLst>
              <a:ext uri="{FF2B5EF4-FFF2-40B4-BE49-F238E27FC236}">
                <a16:creationId xmlns:a16="http://schemas.microsoft.com/office/drawing/2014/main" id="{5CE60BE4-C5C3-FFCA-B1F6-86413FE9538B}"/>
              </a:ext>
            </a:extLst>
          </p:cNvPr>
          <p:cNvCxnSpPr>
            <a:cxnSpLocks/>
          </p:cNvCxnSpPr>
          <p:nvPr userDrawn="1"/>
        </p:nvCxnSpPr>
        <p:spPr>
          <a:xfrm>
            <a:off x="0" y="6629404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60D08C-B95F-60EE-F8BD-BA828328042F}"/>
              </a:ext>
            </a:extLst>
          </p:cNvPr>
          <p:cNvSpPr/>
          <p:nvPr userDrawn="1"/>
        </p:nvSpPr>
        <p:spPr>
          <a:xfrm>
            <a:off x="216640" y="149296"/>
            <a:ext cx="122534" cy="431999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42B999F-5162-A5A7-1A6A-D000B192FFAA}"/>
              </a:ext>
            </a:extLst>
          </p:cNvPr>
          <p:cNvGrpSpPr/>
          <p:nvPr userDrawn="1"/>
        </p:nvGrpSpPr>
        <p:grpSpPr>
          <a:xfrm>
            <a:off x="2526" y="24424"/>
            <a:ext cx="12194526" cy="64928"/>
            <a:chOff x="0" y="701468"/>
            <a:chExt cx="12194526" cy="64928"/>
          </a:xfrm>
        </p:grpSpPr>
        <p:cxnSp>
          <p:nvCxnSpPr>
            <p:cNvPr id="19" name="Straight Connector 7">
              <a:extLst>
                <a:ext uri="{FF2B5EF4-FFF2-40B4-BE49-F238E27FC236}">
                  <a16:creationId xmlns:a16="http://schemas.microsoft.com/office/drawing/2014/main" id="{F9E97D85-8C17-4306-9411-B110F935F2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701468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">
              <a:extLst>
                <a:ext uri="{FF2B5EF4-FFF2-40B4-BE49-F238E27FC236}">
                  <a16:creationId xmlns:a16="http://schemas.microsoft.com/office/drawing/2014/main" id="{B8160BDF-B38F-0F0E-5C95-E0C3A127B1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6" y="766396"/>
              <a:ext cx="12192000" cy="0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16640" y="6488939"/>
            <a:ext cx="1212665" cy="36512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4716" y="6500928"/>
            <a:ext cx="542648" cy="25695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8B1FF-3FA7-3E47-A553-4A4DADC366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46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FF0000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9090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latin typeface="+mj-ea"/>
                <a:ea typeface="+mj-ea"/>
              </a:rPr>
              <a:t>소프트웨어 공학</a:t>
            </a:r>
            <a:br>
              <a:rPr lang="en-GB" altLang="ko-KR" sz="5400" dirty="0">
                <a:latin typeface="+mj-ea"/>
                <a:ea typeface="+mj-ea"/>
              </a:rPr>
            </a:br>
            <a:br>
              <a:rPr lang="en-GB" altLang="ko-KR" dirty="0">
                <a:latin typeface="+mj-ea"/>
                <a:ea typeface="+mj-ea"/>
              </a:rPr>
            </a:br>
            <a:br>
              <a:rPr lang="en-US" sz="2200" dirty="0">
                <a:latin typeface="+mj-ea"/>
                <a:ea typeface="+mj-ea"/>
              </a:rPr>
            </a:br>
            <a:r>
              <a:rPr lang="ko-KR" altLang="en-US" sz="3200" b="0" dirty="0" err="1">
                <a:latin typeface="+mj-ea"/>
                <a:ea typeface="+mj-ea"/>
              </a:rPr>
              <a:t>팀과제</a:t>
            </a:r>
            <a:r>
              <a:rPr lang="en-GB" altLang="ko-KR" sz="3200" b="0" dirty="0">
                <a:latin typeface="+mj-ea"/>
                <a:ea typeface="+mj-ea"/>
              </a:rPr>
              <a:t>(</a:t>
            </a:r>
            <a:r>
              <a:rPr lang="ko-KR" altLang="en-US" sz="3200" b="0" dirty="0">
                <a:latin typeface="+mj-ea"/>
                <a:ea typeface="+mj-ea"/>
              </a:rPr>
              <a:t>최종</a:t>
            </a:r>
            <a:r>
              <a:rPr lang="en-GB" altLang="ko-KR" sz="3200" b="0" dirty="0">
                <a:latin typeface="+mj-ea"/>
                <a:ea typeface="+mj-ea"/>
              </a:rPr>
              <a:t>). </a:t>
            </a:r>
            <a:r>
              <a:rPr lang="ko-KR" altLang="en-US" sz="3200" b="0" dirty="0">
                <a:latin typeface="+mj-ea"/>
                <a:ea typeface="+mj-ea"/>
              </a:rPr>
              <a:t>재구축 프로젝트 계획 수립</a:t>
            </a:r>
            <a:endParaRPr lang="en-US" sz="3200" b="0" dirty="0">
              <a:latin typeface="+mj-ea"/>
              <a:ea typeface="+mj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55883"/>
            <a:ext cx="9144000" cy="1553028"/>
          </a:xfrm>
        </p:spPr>
        <p:txBody>
          <a:bodyPr>
            <a:normAutofit/>
          </a:bodyPr>
          <a:lstStyle/>
          <a:p>
            <a:pPr algn="r"/>
            <a:r>
              <a:rPr lang="en-US" sz="2800" dirty="0" err="1"/>
              <a:t>SuJin</a:t>
            </a:r>
            <a:r>
              <a:rPr lang="en-US" sz="2800" dirty="0"/>
              <a:t> Choi, PhD</a:t>
            </a:r>
          </a:p>
          <a:p>
            <a:pPr algn="r"/>
            <a:r>
              <a:rPr lang="en-US" sz="2000" dirty="0" err="1"/>
              <a:t>Sogang</a:t>
            </a:r>
            <a:r>
              <a:rPr lang="en-US" sz="2000" dirty="0"/>
              <a:t> University</a:t>
            </a:r>
          </a:p>
          <a:p>
            <a:pPr algn="r"/>
            <a:r>
              <a:rPr lang="en-US" sz="2000" dirty="0"/>
              <a:t>Email: </a:t>
            </a:r>
            <a:r>
              <a:rPr lang="en-US" sz="2000" dirty="0" err="1"/>
              <a:t>sujinchoi@sogang.ac.kr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407886" y="1340078"/>
            <a:ext cx="96810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07886" y="3843793"/>
            <a:ext cx="96810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11" y="175000"/>
            <a:ext cx="2032451" cy="62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2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892"/>
    </mc:Choice>
    <mc:Fallback xmlns="">
      <p:transition spd="slow" advTm="888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7BF4D6-2620-421D-8B63-4438C363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최종 발표</a:t>
            </a:r>
            <a:r>
              <a:rPr lang="en-GB" altLang="ko-KR" dirty="0"/>
              <a:t>/</a:t>
            </a:r>
            <a:r>
              <a:rPr lang="ko-KR" altLang="en-US" dirty="0"/>
              <a:t>제출 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8466A7-12CF-43DA-8434-2C188D39D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913479"/>
            <a:ext cx="8249205" cy="5249660"/>
          </a:xfrm>
          <a:custGeom>
            <a:avLst/>
            <a:gdLst>
              <a:gd name="connsiteX0" fmla="*/ 0 w 8249205"/>
              <a:gd name="connsiteY0" fmla="*/ 0 h 5249660"/>
              <a:gd name="connsiteX1" fmla="*/ 754213 w 8249205"/>
              <a:gd name="connsiteY1" fmla="*/ 0 h 5249660"/>
              <a:gd name="connsiteX2" fmla="*/ 1178458 w 8249205"/>
              <a:gd name="connsiteY2" fmla="*/ 0 h 5249660"/>
              <a:gd name="connsiteX3" fmla="*/ 1767687 w 8249205"/>
              <a:gd name="connsiteY3" fmla="*/ 0 h 5249660"/>
              <a:gd name="connsiteX4" fmla="*/ 2356916 w 8249205"/>
              <a:gd name="connsiteY4" fmla="*/ 0 h 5249660"/>
              <a:gd name="connsiteX5" fmla="*/ 2946145 w 8249205"/>
              <a:gd name="connsiteY5" fmla="*/ 0 h 5249660"/>
              <a:gd name="connsiteX6" fmla="*/ 3700358 w 8249205"/>
              <a:gd name="connsiteY6" fmla="*/ 0 h 5249660"/>
              <a:gd name="connsiteX7" fmla="*/ 4124602 w 8249205"/>
              <a:gd name="connsiteY7" fmla="*/ 0 h 5249660"/>
              <a:gd name="connsiteX8" fmla="*/ 4713831 w 8249205"/>
              <a:gd name="connsiteY8" fmla="*/ 0 h 5249660"/>
              <a:gd name="connsiteX9" fmla="*/ 5138076 w 8249205"/>
              <a:gd name="connsiteY9" fmla="*/ 0 h 5249660"/>
              <a:gd name="connsiteX10" fmla="*/ 5562321 w 8249205"/>
              <a:gd name="connsiteY10" fmla="*/ 0 h 5249660"/>
              <a:gd name="connsiteX11" fmla="*/ 6151550 w 8249205"/>
              <a:gd name="connsiteY11" fmla="*/ 0 h 5249660"/>
              <a:gd name="connsiteX12" fmla="*/ 6493303 w 8249205"/>
              <a:gd name="connsiteY12" fmla="*/ 0 h 5249660"/>
              <a:gd name="connsiteX13" fmla="*/ 7247516 w 8249205"/>
              <a:gd name="connsiteY13" fmla="*/ 0 h 5249660"/>
              <a:gd name="connsiteX14" fmla="*/ 8249205 w 8249205"/>
              <a:gd name="connsiteY14" fmla="*/ 0 h 5249660"/>
              <a:gd name="connsiteX15" fmla="*/ 8249205 w 8249205"/>
              <a:gd name="connsiteY15" fmla="*/ 583296 h 5249660"/>
              <a:gd name="connsiteX16" fmla="*/ 8249205 w 8249205"/>
              <a:gd name="connsiteY16" fmla="*/ 1061598 h 5249660"/>
              <a:gd name="connsiteX17" fmla="*/ 8249205 w 8249205"/>
              <a:gd name="connsiteY17" fmla="*/ 1487404 h 5249660"/>
              <a:gd name="connsiteX18" fmla="*/ 8249205 w 8249205"/>
              <a:gd name="connsiteY18" fmla="*/ 1913209 h 5249660"/>
              <a:gd name="connsiteX19" fmla="*/ 8249205 w 8249205"/>
              <a:gd name="connsiteY19" fmla="*/ 2339015 h 5249660"/>
              <a:gd name="connsiteX20" fmla="*/ 8249205 w 8249205"/>
              <a:gd name="connsiteY20" fmla="*/ 2974807 h 5249660"/>
              <a:gd name="connsiteX21" fmla="*/ 8249205 w 8249205"/>
              <a:gd name="connsiteY21" fmla="*/ 3400613 h 5249660"/>
              <a:gd name="connsiteX22" fmla="*/ 8249205 w 8249205"/>
              <a:gd name="connsiteY22" fmla="*/ 3931412 h 5249660"/>
              <a:gd name="connsiteX23" fmla="*/ 8249205 w 8249205"/>
              <a:gd name="connsiteY23" fmla="*/ 4357218 h 5249660"/>
              <a:gd name="connsiteX24" fmla="*/ 8249205 w 8249205"/>
              <a:gd name="connsiteY24" fmla="*/ 5249660 h 5249660"/>
              <a:gd name="connsiteX25" fmla="*/ 7907452 w 8249205"/>
              <a:gd name="connsiteY25" fmla="*/ 5249660 h 5249660"/>
              <a:gd name="connsiteX26" fmla="*/ 7400715 w 8249205"/>
              <a:gd name="connsiteY26" fmla="*/ 5249660 h 5249660"/>
              <a:gd name="connsiteX27" fmla="*/ 6976471 w 8249205"/>
              <a:gd name="connsiteY27" fmla="*/ 5249660 h 5249660"/>
              <a:gd name="connsiteX28" fmla="*/ 6387242 w 8249205"/>
              <a:gd name="connsiteY28" fmla="*/ 5249660 h 5249660"/>
              <a:gd name="connsiteX29" fmla="*/ 5798013 w 8249205"/>
              <a:gd name="connsiteY29" fmla="*/ 5249660 h 5249660"/>
              <a:gd name="connsiteX30" fmla="*/ 5456260 w 8249205"/>
              <a:gd name="connsiteY30" fmla="*/ 5249660 h 5249660"/>
              <a:gd name="connsiteX31" fmla="*/ 4784539 w 8249205"/>
              <a:gd name="connsiteY31" fmla="*/ 5249660 h 5249660"/>
              <a:gd name="connsiteX32" fmla="*/ 4195310 w 8249205"/>
              <a:gd name="connsiteY32" fmla="*/ 5249660 h 5249660"/>
              <a:gd name="connsiteX33" fmla="*/ 3606081 w 8249205"/>
              <a:gd name="connsiteY33" fmla="*/ 5249660 h 5249660"/>
              <a:gd name="connsiteX34" fmla="*/ 3099344 w 8249205"/>
              <a:gd name="connsiteY34" fmla="*/ 5249660 h 5249660"/>
              <a:gd name="connsiteX35" fmla="*/ 2345131 w 8249205"/>
              <a:gd name="connsiteY35" fmla="*/ 5249660 h 5249660"/>
              <a:gd name="connsiteX36" fmla="*/ 1755902 w 8249205"/>
              <a:gd name="connsiteY36" fmla="*/ 5249660 h 5249660"/>
              <a:gd name="connsiteX37" fmla="*/ 1166673 w 8249205"/>
              <a:gd name="connsiteY37" fmla="*/ 5249660 h 5249660"/>
              <a:gd name="connsiteX38" fmla="*/ 577444 w 8249205"/>
              <a:gd name="connsiteY38" fmla="*/ 5249660 h 5249660"/>
              <a:gd name="connsiteX39" fmla="*/ 0 w 8249205"/>
              <a:gd name="connsiteY39" fmla="*/ 5249660 h 5249660"/>
              <a:gd name="connsiteX40" fmla="*/ 0 w 8249205"/>
              <a:gd name="connsiteY40" fmla="*/ 4666364 h 5249660"/>
              <a:gd name="connsiteX41" fmla="*/ 0 w 8249205"/>
              <a:gd name="connsiteY41" fmla="*/ 4240559 h 5249660"/>
              <a:gd name="connsiteX42" fmla="*/ 0 w 8249205"/>
              <a:gd name="connsiteY42" fmla="*/ 3762256 h 5249660"/>
              <a:gd name="connsiteX43" fmla="*/ 0 w 8249205"/>
              <a:gd name="connsiteY43" fmla="*/ 3126464 h 5249660"/>
              <a:gd name="connsiteX44" fmla="*/ 0 w 8249205"/>
              <a:gd name="connsiteY44" fmla="*/ 2648162 h 5249660"/>
              <a:gd name="connsiteX45" fmla="*/ 0 w 8249205"/>
              <a:gd name="connsiteY45" fmla="*/ 2222356 h 5249660"/>
              <a:gd name="connsiteX46" fmla="*/ 0 w 8249205"/>
              <a:gd name="connsiteY46" fmla="*/ 1639061 h 5249660"/>
              <a:gd name="connsiteX47" fmla="*/ 0 w 8249205"/>
              <a:gd name="connsiteY47" fmla="*/ 950772 h 5249660"/>
              <a:gd name="connsiteX48" fmla="*/ 0 w 8249205"/>
              <a:gd name="connsiteY48" fmla="*/ 0 h 524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8249205" h="5249660" fill="none" extrusionOk="0">
                <a:moveTo>
                  <a:pt x="0" y="0"/>
                </a:moveTo>
                <a:cubicBezTo>
                  <a:pt x="182167" y="-52619"/>
                  <a:pt x="582793" y="73808"/>
                  <a:pt x="754213" y="0"/>
                </a:cubicBezTo>
                <a:cubicBezTo>
                  <a:pt x="925633" y="-73808"/>
                  <a:pt x="1079004" y="21005"/>
                  <a:pt x="1178458" y="0"/>
                </a:cubicBezTo>
                <a:cubicBezTo>
                  <a:pt x="1277912" y="-21005"/>
                  <a:pt x="1527526" y="18727"/>
                  <a:pt x="1767687" y="0"/>
                </a:cubicBezTo>
                <a:cubicBezTo>
                  <a:pt x="2007848" y="-18727"/>
                  <a:pt x="2096306" y="60562"/>
                  <a:pt x="2356916" y="0"/>
                </a:cubicBezTo>
                <a:cubicBezTo>
                  <a:pt x="2617526" y="-60562"/>
                  <a:pt x="2715249" y="23107"/>
                  <a:pt x="2946145" y="0"/>
                </a:cubicBezTo>
                <a:cubicBezTo>
                  <a:pt x="3177041" y="-23107"/>
                  <a:pt x="3357874" y="55604"/>
                  <a:pt x="3700358" y="0"/>
                </a:cubicBezTo>
                <a:cubicBezTo>
                  <a:pt x="4042842" y="-55604"/>
                  <a:pt x="4002268" y="34410"/>
                  <a:pt x="4124602" y="0"/>
                </a:cubicBezTo>
                <a:cubicBezTo>
                  <a:pt x="4246936" y="-34410"/>
                  <a:pt x="4425633" y="23397"/>
                  <a:pt x="4713831" y="0"/>
                </a:cubicBezTo>
                <a:cubicBezTo>
                  <a:pt x="5002029" y="-23397"/>
                  <a:pt x="4969880" y="15180"/>
                  <a:pt x="5138076" y="0"/>
                </a:cubicBezTo>
                <a:cubicBezTo>
                  <a:pt x="5306272" y="-15180"/>
                  <a:pt x="5377582" y="5242"/>
                  <a:pt x="5562321" y="0"/>
                </a:cubicBezTo>
                <a:cubicBezTo>
                  <a:pt x="5747060" y="-5242"/>
                  <a:pt x="5981127" y="65624"/>
                  <a:pt x="6151550" y="0"/>
                </a:cubicBezTo>
                <a:cubicBezTo>
                  <a:pt x="6321973" y="-65624"/>
                  <a:pt x="6363177" y="25169"/>
                  <a:pt x="6493303" y="0"/>
                </a:cubicBezTo>
                <a:cubicBezTo>
                  <a:pt x="6623429" y="-25169"/>
                  <a:pt x="6881567" y="69883"/>
                  <a:pt x="7247516" y="0"/>
                </a:cubicBezTo>
                <a:cubicBezTo>
                  <a:pt x="7613465" y="-69883"/>
                  <a:pt x="7851406" y="3259"/>
                  <a:pt x="8249205" y="0"/>
                </a:cubicBezTo>
                <a:cubicBezTo>
                  <a:pt x="8271952" y="146657"/>
                  <a:pt x="8216308" y="461626"/>
                  <a:pt x="8249205" y="583296"/>
                </a:cubicBezTo>
                <a:cubicBezTo>
                  <a:pt x="8282102" y="704966"/>
                  <a:pt x="8223572" y="938772"/>
                  <a:pt x="8249205" y="1061598"/>
                </a:cubicBezTo>
                <a:cubicBezTo>
                  <a:pt x="8274838" y="1184424"/>
                  <a:pt x="8241346" y="1386777"/>
                  <a:pt x="8249205" y="1487404"/>
                </a:cubicBezTo>
                <a:cubicBezTo>
                  <a:pt x="8257064" y="1588031"/>
                  <a:pt x="8221107" y="1751624"/>
                  <a:pt x="8249205" y="1913209"/>
                </a:cubicBezTo>
                <a:cubicBezTo>
                  <a:pt x="8277303" y="2074795"/>
                  <a:pt x="8244419" y="2170668"/>
                  <a:pt x="8249205" y="2339015"/>
                </a:cubicBezTo>
                <a:cubicBezTo>
                  <a:pt x="8253991" y="2507362"/>
                  <a:pt x="8215647" y="2805750"/>
                  <a:pt x="8249205" y="2974807"/>
                </a:cubicBezTo>
                <a:cubicBezTo>
                  <a:pt x="8282763" y="3143864"/>
                  <a:pt x="8246656" y="3251358"/>
                  <a:pt x="8249205" y="3400613"/>
                </a:cubicBezTo>
                <a:cubicBezTo>
                  <a:pt x="8251754" y="3549868"/>
                  <a:pt x="8234645" y="3696330"/>
                  <a:pt x="8249205" y="3931412"/>
                </a:cubicBezTo>
                <a:cubicBezTo>
                  <a:pt x="8263765" y="4166494"/>
                  <a:pt x="8201650" y="4192601"/>
                  <a:pt x="8249205" y="4357218"/>
                </a:cubicBezTo>
                <a:cubicBezTo>
                  <a:pt x="8296760" y="4521835"/>
                  <a:pt x="8148077" y="4826571"/>
                  <a:pt x="8249205" y="5249660"/>
                </a:cubicBezTo>
                <a:cubicBezTo>
                  <a:pt x="8152190" y="5276641"/>
                  <a:pt x="8003221" y="5209202"/>
                  <a:pt x="7907452" y="5249660"/>
                </a:cubicBezTo>
                <a:cubicBezTo>
                  <a:pt x="7811683" y="5290118"/>
                  <a:pt x="7593007" y="5238529"/>
                  <a:pt x="7400715" y="5249660"/>
                </a:cubicBezTo>
                <a:cubicBezTo>
                  <a:pt x="7208423" y="5260791"/>
                  <a:pt x="7157201" y="5214187"/>
                  <a:pt x="6976471" y="5249660"/>
                </a:cubicBezTo>
                <a:cubicBezTo>
                  <a:pt x="6795741" y="5285133"/>
                  <a:pt x="6641466" y="5201885"/>
                  <a:pt x="6387242" y="5249660"/>
                </a:cubicBezTo>
                <a:cubicBezTo>
                  <a:pt x="6133018" y="5297435"/>
                  <a:pt x="6019157" y="5193752"/>
                  <a:pt x="5798013" y="5249660"/>
                </a:cubicBezTo>
                <a:cubicBezTo>
                  <a:pt x="5576869" y="5305568"/>
                  <a:pt x="5535015" y="5215727"/>
                  <a:pt x="5456260" y="5249660"/>
                </a:cubicBezTo>
                <a:cubicBezTo>
                  <a:pt x="5377505" y="5283593"/>
                  <a:pt x="4967000" y="5208909"/>
                  <a:pt x="4784539" y="5249660"/>
                </a:cubicBezTo>
                <a:cubicBezTo>
                  <a:pt x="4602078" y="5290411"/>
                  <a:pt x="4332403" y="5194268"/>
                  <a:pt x="4195310" y="5249660"/>
                </a:cubicBezTo>
                <a:cubicBezTo>
                  <a:pt x="4058217" y="5305052"/>
                  <a:pt x="3801545" y="5239585"/>
                  <a:pt x="3606081" y="5249660"/>
                </a:cubicBezTo>
                <a:cubicBezTo>
                  <a:pt x="3410617" y="5259735"/>
                  <a:pt x="3239975" y="5233316"/>
                  <a:pt x="3099344" y="5249660"/>
                </a:cubicBezTo>
                <a:cubicBezTo>
                  <a:pt x="2958713" y="5266004"/>
                  <a:pt x="2655843" y="5221977"/>
                  <a:pt x="2345131" y="5249660"/>
                </a:cubicBezTo>
                <a:cubicBezTo>
                  <a:pt x="2034419" y="5277343"/>
                  <a:pt x="1976346" y="5236462"/>
                  <a:pt x="1755902" y="5249660"/>
                </a:cubicBezTo>
                <a:cubicBezTo>
                  <a:pt x="1535458" y="5262858"/>
                  <a:pt x="1390136" y="5232147"/>
                  <a:pt x="1166673" y="5249660"/>
                </a:cubicBezTo>
                <a:cubicBezTo>
                  <a:pt x="943210" y="5267173"/>
                  <a:pt x="792200" y="5198307"/>
                  <a:pt x="577444" y="5249660"/>
                </a:cubicBezTo>
                <a:cubicBezTo>
                  <a:pt x="362688" y="5301013"/>
                  <a:pt x="150246" y="5223178"/>
                  <a:pt x="0" y="5249660"/>
                </a:cubicBezTo>
                <a:cubicBezTo>
                  <a:pt x="-36026" y="4997866"/>
                  <a:pt x="43852" y="4818613"/>
                  <a:pt x="0" y="4666364"/>
                </a:cubicBezTo>
                <a:cubicBezTo>
                  <a:pt x="-43852" y="4514115"/>
                  <a:pt x="26492" y="4374443"/>
                  <a:pt x="0" y="4240559"/>
                </a:cubicBezTo>
                <a:cubicBezTo>
                  <a:pt x="-26492" y="4106676"/>
                  <a:pt x="30815" y="3954595"/>
                  <a:pt x="0" y="3762256"/>
                </a:cubicBezTo>
                <a:cubicBezTo>
                  <a:pt x="-30815" y="3569917"/>
                  <a:pt x="18395" y="3301632"/>
                  <a:pt x="0" y="3126464"/>
                </a:cubicBezTo>
                <a:cubicBezTo>
                  <a:pt x="-18395" y="2951296"/>
                  <a:pt x="51963" y="2878737"/>
                  <a:pt x="0" y="2648162"/>
                </a:cubicBezTo>
                <a:cubicBezTo>
                  <a:pt x="-51963" y="2417587"/>
                  <a:pt x="41501" y="2310246"/>
                  <a:pt x="0" y="2222356"/>
                </a:cubicBezTo>
                <a:cubicBezTo>
                  <a:pt x="-41501" y="2134466"/>
                  <a:pt x="12816" y="1910173"/>
                  <a:pt x="0" y="1639061"/>
                </a:cubicBezTo>
                <a:cubicBezTo>
                  <a:pt x="-12816" y="1367950"/>
                  <a:pt x="70634" y="1122768"/>
                  <a:pt x="0" y="950772"/>
                </a:cubicBezTo>
                <a:cubicBezTo>
                  <a:pt x="-70634" y="778776"/>
                  <a:pt x="94479" y="308287"/>
                  <a:pt x="0" y="0"/>
                </a:cubicBezTo>
                <a:close/>
              </a:path>
              <a:path w="8249205" h="5249660" stroke="0" extrusionOk="0">
                <a:moveTo>
                  <a:pt x="0" y="0"/>
                </a:moveTo>
                <a:cubicBezTo>
                  <a:pt x="86389" y="-43069"/>
                  <a:pt x="267613" y="11718"/>
                  <a:pt x="424245" y="0"/>
                </a:cubicBezTo>
                <a:cubicBezTo>
                  <a:pt x="580877" y="-11718"/>
                  <a:pt x="908381" y="36689"/>
                  <a:pt x="1178458" y="0"/>
                </a:cubicBezTo>
                <a:cubicBezTo>
                  <a:pt x="1448535" y="-36689"/>
                  <a:pt x="1608362" y="77268"/>
                  <a:pt x="1932671" y="0"/>
                </a:cubicBezTo>
                <a:cubicBezTo>
                  <a:pt x="2256980" y="-77268"/>
                  <a:pt x="2281158" y="18436"/>
                  <a:pt x="2521900" y="0"/>
                </a:cubicBezTo>
                <a:cubicBezTo>
                  <a:pt x="2762642" y="-18436"/>
                  <a:pt x="2933722" y="70815"/>
                  <a:pt x="3193621" y="0"/>
                </a:cubicBezTo>
                <a:cubicBezTo>
                  <a:pt x="3453520" y="-70815"/>
                  <a:pt x="3427591" y="44556"/>
                  <a:pt x="3617866" y="0"/>
                </a:cubicBezTo>
                <a:cubicBezTo>
                  <a:pt x="3808142" y="-44556"/>
                  <a:pt x="4027532" y="21836"/>
                  <a:pt x="4207095" y="0"/>
                </a:cubicBezTo>
                <a:cubicBezTo>
                  <a:pt x="4386658" y="-21836"/>
                  <a:pt x="4378924" y="17557"/>
                  <a:pt x="4548847" y="0"/>
                </a:cubicBezTo>
                <a:cubicBezTo>
                  <a:pt x="4718770" y="-17557"/>
                  <a:pt x="4839524" y="34056"/>
                  <a:pt x="4973092" y="0"/>
                </a:cubicBezTo>
                <a:cubicBezTo>
                  <a:pt x="5106661" y="-34056"/>
                  <a:pt x="5298192" y="25038"/>
                  <a:pt x="5397337" y="0"/>
                </a:cubicBezTo>
                <a:cubicBezTo>
                  <a:pt x="5496483" y="-25038"/>
                  <a:pt x="5955878" y="1334"/>
                  <a:pt x="6151550" y="0"/>
                </a:cubicBezTo>
                <a:cubicBezTo>
                  <a:pt x="6347222" y="-1334"/>
                  <a:pt x="6545482" y="24134"/>
                  <a:pt x="6823271" y="0"/>
                </a:cubicBezTo>
                <a:cubicBezTo>
                  <a:pt x="7101060" y="-24134"/>
                  <a:pt x="7021551" y="27428"/>
                  <a:pt x="7165024" y="0"/>
                </a:cubicBezTo>
                <a:cubicBezTo>
                  <a:pt x="7308497" y="-27428"/>
                  <a:pt x="7875434" y="57541"/>
                  <a:pt x="8249205" y="0"/>
                </a:cubicBezTo>
                <a:cubicBezTo>
                  <a:pt x="8315107" y="285858"/>
                  <a:pt x="8217932" y="419262"/>
                  <a:pt x="8249205" y="635792"/>
                </a:cubicBezTo>
                <a:cubicBezTo>
                  <a:pt x="8280478" y="852322"/>
                  <a:pt x="8223646" y="875365"/>
                  <a:pt x="8249205" y="1114095"/>
                </a:cubicBezTo>
                <a:cubicBezTo>
                  <a:pt x="8274764" y="1352825"/>
                  <a:pt x="8229111" y="1450695"/>
                  <a:pt x="8249205" y="1749887"/>
                </a:cubicBezTo>
                <a:cubicBezTo>
                  <a:pt x="8269299" y="2049079"/>
                  <a:pt x="8248813" y="2106146"/>
                  <a:pt x="8249205" y="2385679"/>
                </a:cubicBezTo>
                <a:cubicBezTo>
                  <a:pt x="8249597" y="2665212"/>
                  <a:pt x="8235082" y="2693089"/>
                  <a:pt x="8249205" y="2863981"/>
                </a:cubicBezTo>
                <a:cubicBezTo>
                  <a:pt x="8263328" y="3034873"/>
                  <a:pt x="8189350" y="3308218"/>
                  <a:pt x="8249205" y="3552270"/>
                </a:cubicBezTo>
                <a:cubicBezTo>
                  <a:pt x="8309060" y="3796322"/>
                  <a:pt x="8203929" y="3810823"/>
                  <a:pt x="8249205" y="4030572"/>
                </a:cubicBezTo>
                <a:cubicBezTo>
                  <a:pt x="8294481" y="4250321"/>
                  <a:pt x="8245393" y="4452265"/>
                  <a:pt x="8249205" y="4666364"/>
                </a:cubicBezTo>
                <a:cubicBezTo>
                  <a:pt x="8253017" y="4880463"/>
                  <a:pt x="8209796" y="5068684"/>
                  <a:pt x="8249205" y="5249660"/>
                </a:cubicBezTo>
                <a:cubicBezTo>
                  <a:pt x="8106890" y="5256482"/>
                  <a:pt x="7921491" y="5235970"/>
                  <a:pt x="7824960" y="5249660"/>
                </a:cubicBezTo>
                <a:cubicBezTo>
                  <a:pt x="7728429" y="5263350"/>
                  <a:pt x="7541031" y="5204699"/>
                  <a:pt x="7400715" y="5249660"/>
                </a:cubicBezTo>
                <a:cubicBezTo>
                  <a:pt x="7260400" y="5294621"/>
                  <a:pt x="6856021" y="5164710"/>
                  <a:pt x="6646502" y="5249660"/>
                </a:cubicBezTo>
                <a:cubicBezTo>
                  <a:pt x="6436983" y="5334610"/>
                  <a:pt x="6163819" y="5239239"/>
                  <a:pt x="5974781" y="5249660"/>
                </a:cubicBezTo>
                <a:cubicBezTo>
                  <a:pt x="5785743" y="5260081"/>
                  <a:pt x="5756878" y="5240234"/>
                  <a:pt x="5550537" y="5249660"/>
                </a:cubicBezTo>
                <a:cubicBezTo>
                  <a:pt x="5344196" y="5259086"/>
                  <a:pt x="5027692" y="5179926"/>
                  <a:pt x="4878816" y="5249660"/>
                </a:cubicBezTo>
                <a:cubicBezTo>
                  <a:pt x="4729940" y="5319394"/>
                  <a:pt x="4494680" y="5194322"/>
                  <a:pt x="4372079" y="5249660"/>
                </a:cubicBezTo>
                <a:cubicBezTo>
                  <a:pt x="4249478" y="5304998"/>
                  <a:pt x="4080083" y="5202575"/>
                  <a:pt x="3947834" y="5249660"/>
                </a:cubicBezTo>
                <a:cubicBezTo>
                  <a:pt x="3815586" y="5296745"/>
                  <a:pt x="3451148" y="5212016"/>
                  <a:pt x="3276113" y="5249660"/>
                </a:cubicBezTo>
                <a:cubicBezTo>
                  <a:pt x="3101078" y="5287304"/>
                  <a:pt x="2845108" y="5187477"/>
                  <a:pt x="2521900" y="5249660"/>
                </a:cubicBezTo>
                <a:cubicBezTo>
                  <a:pt x="2198692" y="5311843"/>
                  <a:pt x="2137904" y="5237551"/>
                  <a:pt x="1932671" y="5249660"/>
                </a:cubicBezTo>
                <a:cubicBezTo>
                  <a:pt x="1727438" y="5261769"/>
                  <a:pt x="1590525" y="5190097"/>
                  <a:pt x="1425934" y="5249660"/>
                </a:cubicBezTo>
                <a:cubicBezTo>
                  <a:pt x="1261343" y="5309223"/>
                  <a:pt x="1090001" y="5227923"/>
                  <a:pt x="1001689" y="5249660"/>
                </a:cubicBezTo>
                <a:cubicBezTo>
                  <a:pt x="913377" y="5271397"/>
                  <a:pt x="275983" y="5135573"/>
                  <a:pt x="0" y="5249660"/>
                </a:cubicBezTo>
                <a:cubicBezTo>
                  <a:pt x="-699" y="5133650"/>
                  <a:pt x="9861" y="4939623"/>
                  <a:pt x="0" y="4718861"/>
                </a:cubicBezTo>
                <a:cubicBezTo>
                  <a:pt x="-9861" y="4498099"/>
                  <a:pt x="68750" y="4229753"/>
                  <a:pt x="0" y="4083069"/>
                </a:cubicBezTo>
                <a:cubicBezTo>
                  <a:pt x="-68750" y="3936385"/>
                  <a:pt x="1297" y="3668969"/>
                  <a:pt x="0" y="3447277"/>
                </a:cubicBezTo>
                <a:cubicBezTo>
                  <a:pt x="-1297" y="3225585"/>
                  <a:pt x="54359" y="3003050"/>
                  <a:pt x="0" y="2811485"/>
                </a:cubicBezTo>
                <a:cubicBezTo>
                  <a:pt x="-54359" y="2619920"/>
                  <a:pt x="10279" y="2456623"/>
                  <a:pt x="0" y="2175692"/>
                </a:cubicBezTo>
                <a:cubicBezTo>
                  <a:pt x="-10279" y="1894761"/>
                  <a:pt x="35721" y="1710499"/>
                  <a:pt x="0" y="1592397"/>
                </a:cubicBezTo>
                <a:cubicBezTo>
                  <a:pt x="-35721" y="1474296"/>
                  <a:pt x="48780" y="1346383"/>
                  <a:pt x="0" y="1166591"/>
                </a:cubicBezTo>
                <a:cubicBezTo>
                  <a:pt x="-48780" y="986799"/>
                  <a:pt x="43651" y="765389"/>
                  <a:pt x="0" y="530799"/>
                </a:cubicBezTo>
                <a:cubicBezTo>
                  <a:pt x="-43651" y="296209"/>
                  <a:pt x="23408" y="236179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9555771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전체 </a:t>
            </a:r>
            <a:r>
              <a:rPr lang="en-US" altLang="ko-KR" b="1" dirty="0"/>
              <a:t>15 </a:t>
            </a:r>
            <a:r>
              <a:rPr lang="ko-KR" altLang="en-US" b="1" dirty="0"/>
              <a:t>분 이내 발표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sz="2400" b="1" dirty="0"/>
              <a:t>1</a:t>
            </a:r>
            <a:r>
              <a:rPr lang="ko-KR" altLang="en-US" sz="2400" b="1" dirty="0"/>
              <a:t>부</a:t>
            </a:r>
            <a:r>
              <a:rPr lang="en-US" altLang="ko-KR" sz="2400" b="1" dirty="0"/>
              <a:t>. </a:t>
            </a:r>
            <a:r>
              <a:rPr lang="ko-KR" altLang="en-US" sz="2400" b="1" dirty="0"/>
              <a:t>사업제안 발표</a:t>
            </a:r>
            <a:endParaRPr lang="en-US" altLang="ko-KR" sz="2400" b="1" dirty="0">
              <a:solidFill>
                <a:srgbClr val="00B0F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2000" dirty="0"/>
              <a:t>사업 제안 배경 및 필요성</a:t>
            </a:r>
            <a:endParaRPr lang="en-US" altLang="ko-KR" sz="2000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2000" dirty="0"/>
              <a:t>목표시스템 정의</a:t>
            </a:r>
            <a:endParaRPr lang="en-US" altLang="ko-KR" sz="2000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2000" dirty="0"/>
              <a:t>주요 화면 프로토타입</a:t>
            </a:r>
            <a:endParaRPr lang="en-US" altLang="ko-KR" sz="2000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2000" dirty="0"/>
              <a:t>추진 전략 및 체계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/>
              <a:t>      - Project</a:t>
            </a:r>
            <a:r>
              <a:rPr lang="ko-KR" altLang="en-US" sz="2000" dirty="0"/>
              <a:t> </a:t>
            </a:r>
            <a:r>
              <a:rPr lang="en-US" altLang="ko-KR" sz="2000" dirty="0"/>
              <a:t>Lifecycle, </a:t>
            </a:r>
            <a:r>
              <a:rPr lang="ko-KR" altLang="en-US" sz="2000" dirty="0"/>
              <a:t>추진 일정</a:t>
            </a:r>
            <a:r>
              <a:rPr lang="en-GB" altLang="ko-KR" sz="2000" dirty="0"/>
              <a:t>(WBS), </a:t>
            </a:r>
            <a:r>
              <a:rPr lang="ko-KR" altLang="en-US" sz="2000" dirty="0"/>
              <a:t>일정관리 방안</a:t>
            </a:r>
            <a:endParaRPr lang="en-GB" altLang="ko-KR" sz="2000" dirty="0"/>
          </a:p>
          <a:p>
            <a:pPr marL="457200" lvl="1" indent="0">
              <a:buNone/>
            </a:pPr>
            <a:r>
              <a:rPr lang="en-GB" altLang="ko-KR" sz="2000" dirty="0"/>
              <a:t>      - </a:t>
            </a:r>
            <a:r>
              <a:rPr lang="ko-KR" altLang="en-US" sz="2000" dirty="0"/>
              <a:t>인프라 구축방안</a:t>
            </a:r>
            <a:endParaRPr lang="en-GB" altLang="ko-KR" sz="2000" dirty="0"/>
          </a:p>
          <a:p>
            <a:pPr marL="457200" lvl="1" indent="0">
              <a:buNone/>
            </a:pPr>
            <a:r>
              <a:rPr lang="en-GB" altLang="ko-KR" sz="2000" dirty="0"/>
              <a:t>	 - </a:t>
            </a:r>
            <a:r>
              <a:rPr lang="ko-KR" altLang="en-US" sz="2000" dirty="0"/>
              <a:t>변경관리 절차</a:t>
            </a:r>
            <a:r>
              <a:rPr lang="en-GB" altLang="ko-KR" sz="2000" dirty="0"/>
              <a:t>, </a:t>
            </a:r>
            <a:r>
              <a:rPr lang="ko-KR" altLang="en-US" sz="2000" dirty="0"/>
              <a:t>품질관리 방안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400" b="1" dirty="0"/>
              <a:t>2</a:t>
            </a:r>
            <a:r>
              <a:rPr lang="ko-KR" altLang="en-US" sz="2400" b="1" dirty="0"/>
              <a:t>부</a:t>
            </a:r>
            <a:r>
              <a:rPr lang="en-US" altLang="ko-KR" sz="2400" b="1" dirty="0"/>
              <a:t>. </a:t>
            </a:r>
            <a:r>
              <a:rPr lang="ko-KR" altLang="en-US" sz="2400" b="1" dirty="0"/>
              <a:t>기타 설명 및 소감</a:t>
            </a:r>
            <a:endParaRPr lang="en-US" altLang="ko-KR" sz="2400" dirty="0"/>
          </a:p>
          <a:p>
            <a:pPr marL="914400" lvl="1" indent="-457200">
              <a:buAutoNum type="arabicPeriod" startAt="5"/>
            </a:pPr>
            <a:r>
              <a:rPr lang="ko-KR" altLang="en-US" sz="2000" dirty="0"/>
              <a:t>기타</a:t>
            </a:r>
            <a:br>
              <a:rPr lang="en-US" altLang="ko-KR" sz="2000" dirty="0"/>
            </a:br>
            <a:r>
              <a:rPr lang="en-US" altLang="ko-KR" sz="2000" dirty="0"/>
              <a:t>. </a:t>
            </a:r>
            <a:r>
              <a:rPr lang="ko-KR" altLang="en-US" sz="2000" dirty="0"/>
              <a:t>기존 진행한 과제물 </a:t>
            </a:r>
            <a:r>
              <a:rPr lang="ko-KR" altLang="en-US" sz="2000" dirty="0" err="1"/>
              <a:t>최신본</a:t>
            </a:r>
            <a:r>
              <a:rPr lang="ko-KR" altLang="en-US" sz="2000" dirty="0"/>
              <a:t> 전체 </a:t>
            </a:r>
            <a:r>
              <a:rPr lang="en-US" altLang="ko-KR" sz="2000" dirty="0"/>
              <a:t>(</a:t>
            </a:r>
            <a:r>
              <a:rPr lang="ko-KR" altLang="en-US" sz="2000" dirty="0"/>
              <a:t>설명은 갱신된 부분 위주로</a:t>
            </a:r>
            <a:r>
              <a:rPr lang="en-US" altLang="ko-KR" sz="2000" dirty="0"/>
              <a:t>)</a:t>
            </a:r>
          </a:p>
          <a:p>
            <a:pPr marL="800100" lvl="1" indent="-342900">
              <a:buAutoNum type="arabicPeriod" startAt="6"/>
            </a:pPr>
            <a:r>
              <a:rPr lang="ko-KR" altLang="en-US" sz="2000" dirty="0"/>
              <a:t>  팀프로젝트 진행 소감 </a:t>
            </a:r>
            <a:r>
              <a:rPr lang="en-US" altLang="ko-KR" sz="2000" dirty="0"/>
              <a:t>(4L </a:t>
            </a:r>
            <a:r>
              <a:rPr lang="ko-KR" altLang="en-US" sz="2000" dirty="0"/>
              <a:t>회고 양식 사용</a:t>
            </a:r>
            <a:r>
              <a:rPr lang="en-GB" altLang="ko-KR" sz="2000" dirty="0"/>
              <a:t>)</a:t>
            </a:r>
            <a:endParaRPr lang="en-US" altLang="ko-KR" sz="2000" dirty="0"/>
          </a:p>
          <a:p>
            <a:pPr marL="914400" lvl="2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AB3BD0-60B5-4849-A47B-F1EC69014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FFDC47-21CD-43B1-B38C-123B217AEFD3}"/>
              </a:ext>
            </a:extLst>
          </p:cNvPr>
          <p:cNvSpPr txBox="1"/>
          <p:nvPr/>
        </p:nvSpPr>
        <p:spPr>
          <a:xfrm>
            <a:off x="8648700" y="983565"/>
            <a:ext cx="3600450" cy="1756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제출자료 </a:t>
            </a:r>
            <a:r>
              <a:rPr lang="en-US" altLang="ko-KR" sz="2000" dirty="0"/>
              <a:t>: </a:t>
            </a:r>
            <a:r>
              <a:rPr lang="ko-KR" altLang="en-US" sz="2000" dirty="0"/>
              <a:t>발표자료</a:t>
            </a:r>
            <a:r>
              <a:rPr lang="en-US" altLang="ko-KR" sz="2000" dirty="0"/>
              <a:t> (pdf)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발표시간 </a:t>
            </a:r>
            <a:r>
              <a:rPr lang="en-US" altLang="ko-KR" sz="2000" dirty="0"/>
              <a:t>: </a:t>
            </a:r>
            <a:r>
              <a:rPr lang="ko-KR" altLang="en-US" sz="2000" dirty="0"/>
              <a:t>팀별 </a:t>
            </a:r>
            <a:r>
              <a:rPr lang="en-US" altLang="ko-KR" sz="2000" dirty="0"/>
              <a:t>15</a:t>
            </a:r>
            <a:r>
              <a:rPr lang="ko-KR" altLang="en-US" sz="2000" dirty="0"/>
              <a:t>분 이내</a:t>
            </a:r>
            <a:endParaRPr lang="en-US" altLang="ko-KR" sz="2000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    제출기한 </a:t>
            </a:r>
            <a:r>
              <a:rPr lang="en-US" altLang="ko-KR" sz="2000" dirty="0"/>
              <a:t>: 12/11 (01 </a:t>
            </a:r>
            <a:r>
              <a:rPr lang="ko-KR" altLang="en-US" sz="2000" dirty="0"/>
              <a:t>분반</a:t>
            </a:r>
            <a:r>
              <a:rPr lang="en-GB" altLang="ko-KR" sz="2000" dirty="0"/>
              <a:t>), </a:t>
            </a:r>
            <a:br>
              <a:rPr lang="en-GB" altLang="ko-KR" sz="2000" dirty="0"/>
            </a:br>
            <a:r>
              <a:rPr lang="en-GB" altLang="ko-KR" sz="2000" dirty="0"/>
              <a:t>                           </a:t>
            </a:r>
            <a:r>
              <a:rPr lang="en-US" altLang="ko-KR" sz="2000" dirty="0"/>
              <a:t>12/09( 02</a:t>
            </a:r>
            <a:r>
              <a:rPr lang="ko-KR" altLang="en-US" sz="2000" dirty="0"/>
              <a:t>분반</a:t>
            </a:r>
            <a:r>
              <a:rPr lang="en-US" altLang="ko-KR" sz="2000" dirty="0"/>
              <a:t>)</a:t>
            </a:r>
            <a:br>
              <a:rPr lang="en-US" altLang="ko-KR" sz="2000" dirty="0"/>
            </a:br>
            <a:r>
              <a:rPr lang="en-US" altLang="ko-KR" b="1" dirty="0">
                <a:solidFill>
                  <a:srgbClr val="0070C0"/>
                </a:solidFill>
              </a:rPr>
              <a:t>                    </a:t>
            </a:r>
            <a:endParaRPr lang="en-US" altLang="ko-KR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733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9147D-B546-48F4-BDFF-91D2ABEF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740" y="122294"/>
            <a:ext cx="11186146" cy="553378"/>
          </a:xfrm>
        </p:spPr>
        <p:txBody>
          <a:bodyPr>
            <a:noAutofit/>
          </a:bodyPr>
          <a:lstStyle/>
          <a:p>
            <a:r>
              <a:rPr lang="ko-KR" altLang="en-US" sz="3200" dirty="0"/>
              <a:t>변경관리 절차 </a:t>
            </a:r>
            <a:r>
              <a:rPr lang="en-US" altLang="ko-KR" sz="3200" dirty="0"/>
              <a:t> </a:t>
            </a:r>
            <a:r>
              <a:rPr lang="en-US" altLang="ko-KR" sz="2400" dirty="0"/>
              <a:t>(2</a:t>
            </a:r>
            <a:r>
              <a:rPr lang="ko-KR" altLang="en-US" sz="2400" dirty="0"/>
              <a:t>가지 시나리오에 대한 처리 절차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8DF873-4F33-41EC-9CF8-FF6789280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738995"/>
            <a:ext cx="11577869" cy="4934637"/>
          </a:xfrm>
        </p:spPr>
        <p:txBody>
          <a:bodyPr/>
          <a:lstStyle/>
          <a:p>
            <a:endParaRPr lang="en-US" altLang="ko-KR" sz="2400" dirty="0"/>
          </a:p>
          <a:p>
            <a:r>
              <a:rPr lang="ko-KR" altLang="en-US" sz="2400" dirty="0"/>
              <a:t>시나리오 </a:t>
            </a:r>
            <a:r>
              <a:rPr lang="en-US" altLang="ko-KR" sz="2400" dirty="0"/>
              <a:t>1: </a:t>
            </a:r>
            <a:r>
              <a:rPr lang="ko-KR" altLang="en-US" sz="2400" dirty="0"/>
              <a:t>출시되어 사용중인 제품에 대해 마케팅 또는 </a:t>
            </a:r>
            <a:r>
              <a:rPr lang="en-US" altLang="ko-KR" sz="2400" dirty="0"/>
              <a:t>end-user</a:t>
            </a:r>
            <a:r>
              <a:rPr lang="ko-KR" altLang="en-US" sz="2400" dirty="0"/>
              <a:t>로 부터 신규</a:t>
            </a:r>
            <a:r>
              <a:rPr lang="en-US" altLang="ko-KR" sz="2400" dirty="0"/>
              <a:t>/</a:t>
            </a:r>
            <a:r>
              <a:rPr lang="ko-KR" altLang="en-US" sz="2400" dirty="0"/>
              <a:t>변경요구사항이 접수됨</a:t>
            </a:r>
            <a:endParaRPr lang="en-US" altLang="ko-KR" sz="2400" dirty="0"/>
          </a:p>
          <a:p>
            <a:pPr lvl="1"/>
            <a:r>
              <a:rPr lang="ko-KR" altLang="en-US" sz="2000" dirty="0"/>
              <a:t>누가 </a:t>
            </a:r>
            <a:r>
              <a:rPr lang="ko-KR" altLang="en-US" sz="2000" dirty="0" err="1"/>
              <a:t>접수받나</a:t>
            </a:r>
            <a:r>
              <a:rPr lang="en-US" altLang="ko-KR" sz="2000" dirty="0"/>
              <a:t>? </a:t>
            </a:r>
            <a:r>
              <a:rPr lang="ko-KR" altLang="en-US" sz="2000" dirty="0"/>
              <a:t>무엇을 통해 </a:t>
            </a:r>
            <a:r>
              <a:rPr lang="ko-KR" altLang="en-US" sz="2000" dirty="0" err="1"/>
              <a:t>접수받나</a:t>
            </a:r>
            <a:r>
              <a:rPr lang="en-US" altLang="ko-KR" sz="2000" dirty="0"/>
              <a:t>? </a:t>
            </a:r>
            <a:r>
              <a:rPr lang="ko-KR" altLang="en-US" sz="2000" dirty="0"/>
              <a:t>이후처리는 등등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ko-KR" altLang="en-US" sz="2400" dirty="0"/>
              <a:t>시나리오 </a:t>
            </a:r>
            <a:r>
              <a:rPr lang="en-US" altLang="ko-KR" sz="2400" dirty="0"/>
              <a:t>2: </a:t>
            </a:r>
            <a:r>
              <a:rPr lang="ko-KR" altLang="en-US" sz="2400" dirty="0"/>
              <a:t>출시되어 사용중인 제품</a:t>
            </a:r>
            <a:r>
              <a:rPr lang="en-US" altLang="ko-KR" sz="2400" dirty="0"/>
              <a:t>/</a:t>
            </a:r>
            <a:r>
              <a:rPr lang="ko-KR" altLang="en-US" sz="2400" dirty="0"/>
              <a:t>서비스에 대해</a:t>
            </a:r>
            <a:r>
              <a:rPr lang="en-US" altLang="ko-KR" sz="2400" dirty="0"/>
              <a:t> </a:t>
            </a:r>
            <a:r>
              <a:rPr lang="ko-KR" altLang="en-US" sz="2400" dirty="0"/>
              <a:t>결함이 보고됨</a:t>
            </a:r>
            <a:r>
              <a:rPr lang="en-US" altLang="ko-KR" sz="2400" dirty="0"/>
              <a:t>. </a:t>
            </a:r>
          </a:p>
          <a:p>
            <a:pPr lvl="1"/>
            <a:r>
              <a:rPr lang="ko-KR" altLang="en-US" sz="2000" dirty="0"/>
              <a:t>누가 </a:t>
            </a:r>
            <a:r>
              <a:rPr lang="ko-KR" altLang="en-US" sz="2000" dirty="0" err="1"/>
              <a:t>접수받나</a:t>
            </a:r>
            <a:r>
              <a:rPr lang="en-US" altLang="ko-KR" sz="2000" dirty="0"/>
              <a:t>? </a:t>
            </a:r>
            <a:r>
              <a:rPr lang="ko-KR" altLang="en-US" sz="2000" dirty="0"/>
              <a:t>무엇을 통해</a:t>
            </a:r>
            <a:r>
              <a:rPr lang="en-US" altLang="ko-KR" sz="2000" dirty="0"/>
              <a:t>? </a:t>
            </a:r>
            <a:r>
              <a:rPr lang="ko-KR" altLang="en-US" sz="2000" dirty="0"/>
              <a:t>이후 처리는</a:t>
            </a:r>
            <a:r>
              <a:rPr lang="en-US" altLang="ko-KR" sz="2000" dirty="0"/>
              <a:t>?</a:t>
            </a:r>
          </a:p>
          <a:p>
            <a:endParaRPr lang="en-US" altLang="ko-KR" sz="2400" dirty="0"/>
          </a:p>
          <a:p>
            <a:r>
              <a:rPr lang="ko-KR" altLang="en-US" sz="2400" dirty="0"/>
              <a:t>이때</a:t>
            </a:r>
            <a:r>
              <a:rPr lang="en-US" altLang="ko-KR" sz="2400" dirty="0"/>
              <a:t>, </a:t>
            </a:r>
            <a:r>
              <a:rPr lang="ko-KR" altLang="en-US" sz="2400" dirty="0"/>
              <a:t>사용하는 도구가 있다면 해당 활동에 함께 표현함</a:t>
            </a:r>
            <a:r>
              <a:rPr lang="en-US" altLang="ko-KR" sz="2400" dirty="0"/>
              <a:t>. </a:t>
            </a:r>
            <a:br>
              <a:rPr lang="en-US" altLang="ko-KR" sz="2400" dirty="0"/>
            </a:br>
            <a:r>
              <a:rPr lang="ko-KR" altLang="en-US" sz="2400" dirty="0"/>
              <a:t>프로세스 정의를 위해 </a:t>
            </a:r>
            <a:r>
              <a:rPr lang="en-US" altLang="ko-KR" sz="2400" dirty="0"/>
              <a:t>context </a:t>
            </a:r>
            <a:r>
              <a:rPr lang="ko-KR" altLang="en-US" sz="2400" dirty="0"/>
              <a:t>등은 임의로 가정함</a:t>
            </a:r>
            <a:r>
              <a:rPr lang="en-US" altLang="ko-KR" sz="2400" dirty="0"/>
              <a:t>.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A96D12-0FC5-4B7E-9517-3DDDDE33F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4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24DF6E-DFBD-EB6D-004B-DD5C5306F2A3}"/>
              </a:ext>
            </a:extLst>
          </p:cNvPr>
          <p:cNvSpPr/>
          <p:nvPr/>
        </p:nvSpPr>
        <p:spPr>
          <a:xfrm>
            <a:off x="479936" y="968996"/>
            <a:ext cx="5616063" cy="24600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0C95B4-91BC-C361-7A10-64CFBDE1D7BB}"/>
              </a:ext>
            </a:extLst>
          </p:cNvPr>
          <p:cNvSpPr/>
          <p:nvPr/>
        </p:nvSpPr>
        <p:spPr>
          <a:xfrm>
            <a:off x="479936" y="3580353"/>
            <a:ext cx="5616063" cy="26600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FCEED1-785A-CB22-C049-883F7F27E409}"/>
              </a:ext>
            </a:extLst>
          </p:cNvPr>
          <p:cNvSpPr/>
          <p:nvPr/>
        </p:nvSpPr>
        <p:spPr>
          <a:xfrm>
            <a:off x="6240377" y="3580353"/>
            <a:ext cx="5616063" cy="26600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BCA81A-AB75-C3E0-A718-4E3A3B09AC00}"/>
              </a:ext>
            </a:extLst>
          </p:cNvPr>
          <p:cNvSpPr/>
          <p:nvPr/>
        </p:nvSpPr>
        <p:spPr>
          <a:xfrm>
            <a:off x="6240377" y="968996"/>
            <a:ext cx="5616063" cy="24600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C46FC33-518E-47A3-3DB6-49DDAC6C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4L </a:t>
            </a:r>
            <a:r>
              <a:rPr lang="ko-KR" altLang="en-US" dirty="0"/>
              <a:t>회고  </a:t>
            </a:r>
            <a:r>
              <a:rPr lang="en-GB" altLang="ko-KR" sz="3600" dirty="0"/>
              <a:t>(</a:t>
            </a:r>
            <a:r>
              <a:rPr lang="ko-KR" altLang="en-US" sz="3600" dirty="0"/>
              <a:t>팀프로젝트 및 과목 자체에 대해</a:t>
            </a:r>
            <a:r>
              <a:rPr lang="en-GB" altLang="ko-KR" sz="3600" dirty="0"/>
              <a:t>)</a:t>
            </a:r>
            <a:r>
              <a:rPr lang="ko-KR" altLang="en-US" dirty="0"/>
              <a:t> </a:t>
            </a:r>
            <a:endParaRPr lang="en-GB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F6D1CA-A583-BA7C-5339-85B64E3C0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B48B1FF-3FA7-3E47-A553-4A4DADC36665}" type="slidenum">
              <a:rPr lang="en-US" smtClean="0"/>
              <a:pPr algn="l"/>
              <a:t>3</a:t>
            </a:fld>
            <a:endParaRPr lang="ko-KR" altLang="en-US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9CAA9F-B846-084B-E2CC-1D5906FC1361}"/>
              </a:ext>
            </a:extLst>
          </p:cNvPr>
          <p:cNvSpPr txBox="1"/>
          <p:nvPr/>
        </p:nvSpPr>
        <p:spPr>
          <a:xfrm>
            <a:off x="610323" y="1060387"/>
            <a:ext cx="48149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Liked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–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좋았던 점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마음에 들었던 점</a:t>
            </a:r>
            <a:endParaRPr lang="en-GB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39108-0508-ED27-8BD6-BC30D0D2E9EF}"/>
              </a:ext>
            </a:extLst>
          </p:cNvPr>
          <p:cNvSpPr txBox="1"/>
          <p:nvPr/>
        </p:nvSpPr>
        <p:spPr>
          <a:xfrm>
            <a:off x="610323" y="3650803"/>
            <a:ext cx="50862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Lacked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–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부족했던 점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아쉬웠던 점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8DEDAD-2B90-0CA7-57C3-C765E7C779A6}"/>
              </a:ext>
            </a:extLst>
          </p:cNvPr>
          <p:cNvSpPr txBox="1"/>
          <p:nvPr/>
        </p:nvSpPr>
        <p:spPr>
          <a:xfrm>
            <a:off x="6345247" y="3650803"/>
            <a:ext cx="57228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Longed for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–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바랐던 점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있었으면 좋았을 것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2263CC6-DBEE-0AFB-2E94-57ABE3DFBF87}"/>
              </a:ext>
            </a:extLst>
          </p:cNvPr>
          <p:cNvSpPr txBox="1">
            <a:spLocks/>
          </p:cNvSpPr>
          <p:nvPr/>
        </p:nvSpPr>
        <p:spPr>
          <a:xfrm>
            <a:off x="6354139" y="1060387"/>
            <a:ext cx="284855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>
                <a:solidFill>
                  <a:srgbClr val="0070C0"/>
                </a:solidFill>
                <a:latin typeface="+mn-ea"/>
              </a:rPr>
              <a:t>Learned</a:t>
            </a:r>
            <a:r>
              <a:rPr lang="ko-KR" altLang="en-US" sz="2000" b="1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2000" b="1">
                <a:solidFill>
                  <a:srgbClr val="0070C0"/>
                </a:solidFill>
                <a:latin typeface="+mn-ea"/>
              </a:rPr>
              <a:t>– </a:t>
            </a:r>
            <a:r>
              <a:rPr lang="ko-KR" altLang="en-US" sz="2000" b="1">
                <a:solidFill>
                  <a:srgbClr val="0070C0"/>
                </a:solidFill>
                <a:latin typeface="+mn-ea"/>
              </a:rPr>
              <a:t>배운 것</a:t>
            </a:r>
            <a:endParaRPr lang="ko-KR" altLang="en-US" sz="2000" b="1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8051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694" y="1107608"/>
            <a:ext cx="5520612" cy="5095950"/>
          </a:xfrm>
          <a:prstGeom prst="rect">
            <a:avLst/>
          </a:prstGeom>
        </p:spPr>
      </p:pic>
      <p:sp>
        <p:nvSpPr>
          <p:cNvPr id="9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Questions &amp; Answers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BCDE8F7-FBF2-E625-BAFD-23BD26B9B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913479"/>
            <a:ext cx="11577869" cy="499270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48B1FF-3FA7-3E47-A553-4A4DADC366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769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35684</TotalTime>
  <Words>261</Words>
  <Application>Microsoft Office PowerPoint</Application>
  <PresentationFormat>와이드스크린</PresentationFormat>
  <Paragraphs>39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Office Theme</vt:lpstr>
      <vt:lpstr>소프트웨어 공학   팀과제(최종). 재구축 프로젝트 계획 수립</vt:lpstr>
      <vt:lpstr>최종 발표/제출 자료</vt:lpstr>
      <vt:lpstr>변경관리 절차  (2가지 시나리오에 대한 처리 절차)</vt:lpstr>
      <vt:lpstr>4L 회고  (팀프로젝트 및 과목 자체에 대해) </vt:lpstr>
      <vt:lpstr>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 chap 1. Introduction</dc:title>
  <dc:creator>Microsoft Office User</dc:creator>
  <cp:lastModifiedBy>최수진</cp:lastModifiedBy>
  <cp:revision>178</cp:revision>
  <cp:lastPrinted>2025-09-09T01:32:55Z</cp:lastPrinted>
  <dcterms:created xsi:type="dcterms:W3CDTF">2016-03-01T07:34:49Z</dcterms:created>
  <dcterms:modified xsi:type="dcterms:W3CDTF">2025-11-25T16:18:48Z</dcterms:modified>
</cp:coreProperties>
</file>