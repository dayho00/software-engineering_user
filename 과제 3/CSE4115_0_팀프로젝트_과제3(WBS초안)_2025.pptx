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43" r:id="rId3"/>
    <p:sldId id="346" r:id="rId4"/>
    <p:sldId id="258" r:id="rId5"/>
    <p:sldId id="289" r:id="rId6"/>
    <p:sldId id="791" r:id="rId7"/>
    <p:sldId id="790" r:id="rId8"/>
    <p:sldId id="792" r:id="rId9"/>
    <p:sldId id="793" r:id="rId10"/>
    <p:sldId id="795" r:id="rId11"/>
    <p:sldId id="555" r:id="rId12"/>
    <p:sldId id="554" r:id="rId13"/>
    <p:sldId id="347" r:id="rId14"/>
    <p:sldId id="345" r:id="rId15"/>
    <p:sldId id="261" r:id="rId16"/>
    <p:sldId id="270" r:id="rId1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74080" autoAdjust="0"/>
  </p:normalViewPr>
  <p:slideViewPr>
    <p:cSldViewPr snapToGrid="0" snapToObjects="1">
      <p:cViewPr varScale="1">
        <p:scale>
          <a:sx n="60" d="100"/>
          <a:sy n="60" d="100"/>
        </p:scale>
        <p:origin x="54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644"/>
    </p:cViewPr>
  </p:sorterViewPr>
  <p:notesViewPr>
    <p:cSldViewPr snapToGrid="0" snapToObjects="1">
      <p:cViewPr varScale="1">
        <p:scale>
          <a:sx n="75" d="100"/>
          <a:sy n="75" d="100"/>
        </p:scale>
        <p:origin x="27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406" cy="49741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813"/>
            <a:ext cx="2945406" cy="49741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750" y="9430813"/>
            <a:ext cx="2945405" cy="49741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4F0DB0A5-66E7-49B7-BA7A-557FFA7E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082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r">
              <a:defRPr sz="1300"/>
            </a:lvl1pPr>
          </a:lstStyle>
          <a:p>
            <a:fld id="{871BFB05-34A1-3545-86B3-8557F70CEEF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8" tIns="47784" rIns="95568" bIns="477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5568" tIns="47784" rIns="95568" bIns="477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r">
              <a:defRPr sz="1300"/>
            </a:lvl1pPr>
          </a:lstStyle>
          <a:p>
            <a:fld id="{0B94CCC0-6084-0D4B-8BC8-7C2C2C167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544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5361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917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altLang="ko-KR" dirty="0"/>
              <a:t>Click to edit Master title style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F1B5-F791-C148-A17C-407912F45115}" type="datetime1">
              <a:rPr lang="ko-KR" altLang="en-US" smtClean="0"/>
              <a:t>2025-10-29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1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41" y="141485"/>
            <a:ext cx="11186146" cy="553378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8395"/>
            <a:ext cx="2743200" cy="365125"/>
          </a:xfrm>
        </p:spPr>
        <p:txBody>
          <a:bodyPr/>
          <a:lstStyle/>
          <a:p>
            <a:fld id="{8B425290-A52B-E146-90F6-15CF546A83C4}" type="datetime1">
              <a:rPr lang="ko-KR" altLang="en-US" smtClean="0"/>
              <a:t>2025-10-29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8395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48E2B7-3549-0345-5BED-798B6BD82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886" y="6500928"/>
            <a:ext cx="542648" cy="25695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8B1FF-3FA7-3E47-A553-4A4DADC366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8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10B4-95D2-7A4C-96D4-2531BF88ACBF}" type="datetime1">
              <a:rPr lang="ko-KR" altLang="en-US" smtClean="0"/>
              <a:t>2025-10-29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24E04E-5037-21D0-2EA3-1F7BD268C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585880" cy="524966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04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1625-8702-294D-B966-549C6EC129F4}" type="datetime1">
              <a:rPr lang="ko-KR" altLang="en-US" smtClean="0"/>
              <a:t>2025-10-29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34716" y="6492050"/>
            <a:ext cx="542648" cy="256951"/>
          </a:xfrm>
        </p:spPr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295846-6895-0792-2FFE-E4D3A6915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160669" cy="524966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B6A536-951C-6ACB-1809-5F4D2B85C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495" y="141484"/>
            <a:ext cx="11168391" cy="663819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0234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9495" y="141484"/>
            <a:ext cx="11585880" cy="663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495" y="913479"/>
            <a:ext cx="11577869" cy="5249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645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8677D-8D6C-694F-A320-DD1B0BD33CD5}" type="datetime1">
              <a:rPr lang="ko-KR" altLang="en-US" smtClean="0"/>
              <a:t>2025-10-29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64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cxnSp>
        <p:nvCxnSpPr>
          <p:cNvPr id="16" name="Straight Connector 8">
            <a:extLst>
              <a:ext uri="{FF2B5EF4-FFF2-40B4-BE49-F238E27FC236}">
                <a16:creationId xmlns:a16="http://schemas.microsoft.com/office/drawing/2014/main" id="{5CE60BE4-C5C3-FFCA-B1F6-86413FE9538B}"/>
              </a:ext>
            </a:extLst>
          </p:cNvPr>
          <p:cNvCxnSpPr>
            <a:cxnSpLocks/>
          </p:cNvCxnSpPr>
          <p:nvPr userDrawn="1"/>
        </p:nvCxnSpPr>
        <p:spPr>
          <a:xfrm>
            <a:off x="0" y="6629404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60D08C-B95F-60EE-F8BD-BA828328042F}"/>
              </a:ext>
            </a:extLst>
          </p:cNvPr>
          <p:cNvSpPr/>
          <p:nvPr userDrawn="1"/>
        </p:nvSpPr>
        <p:spPr>
          <a:xfrm>
            <a:off x="216640" y="149296"/>
            <a:ext cx="122534" cy="43199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42B999F-5162-A5A7-1A6A-D000B192FFAA}"/>
              </a:ext>
            </a:extLst>
          </p:cNvPr>
          <p:cNvGrpSpPr/>
          <p:nvPr userDrawn="1"/>
        </p:nvGrpSpPr>
        <p:grpSpPr>
          <a:xfrm>
            <a:off x="2526" y="24424"/>
            <a:ext cx="12194526" cy="64928"/>
            <a:chOff x="0" y="701468"/>
            <a:chExt cx="12194526" cy="64928"/>
          </a:xfrm>
        </p:grpSpPr>
        <p:cxnSp>
          <p:nvCxnSpPr>
            <p:cNvPr id="19" name="Straight Connector 7">
              <a:extLst>
                <a:ext uri="{FF2B5EF4-FFF2-40B4-BE49-F238E27FC236}">
                  <a16:creationId xmlns:a16="http://schemas.microsoft.com/office/drawing/2014/main" id="{F9E97D85-8C17-4306-9411-B110F935F2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701468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">
              <a:extLst>
                <a:ext uri="{FF2B5EF4-FFF2-40B4-BE49-F238E27FC236}">
                  <a16:creationId xmlns:a16="http://schemas.microsoft.com/office/drawing/2014/main" id="{B8160BDF-B38F-0F0E-5C95-E0C3A127B1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6" y="766396"/>
              <a:ext cx="12192000" cy="0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16640" y="6488939"/>
            <a:ext cx="1212665" cy="36512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4716" y="6500928"/>
            <a:ext cx="542648" cy="25695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8B1FF-3FA7-3E47-A553-4A4DADC366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6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0000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9090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+mj-ea"/>
                <a:ea typeface="+mj-ea"/>
              </a:rPr>
              <a:t>소프트웨어 공학</a:t>
            </a:r>
            <a:br>
              <a:rPr lang="en-GB" altLang="ko-KR" sz="5400" dirty="0">
                <a:latin typeface="+mj-ea"/>
                <a:ea typeface="+mj-ea"/>
              </a:rPr>
            </a:br>
            <a:br>
              <a:rPr lang="en-GB" altLang="ko-KR" dirty="0">
                <a:latin typeface="+mj-ea"/>
                <a:ea typeface="+mj-ea"/>
              </a:rPr>
            </a:br>
            <a:br>
              <a:rPr lang="en-US" sz="2200" dirty="0">
                <a:latin typeface="+mj-ea"/>
                <a:ea typeface="+mj-ea"/>
              </a:rPr>
            </a:br>
            <a:r>
              <a:rPr lang="ko-KR" altLang="en-US" sz="3200" b="0" dirty="0" err="1">
                <a:latin typeface="+mj-ea"/>
                <a:ea typeface="+mj-ea"/>
              </a:rPr>
              <a:t>팀과제</a:t>
            </a:r>
            <a:r>
              <a:rPr lang="en-GB" altLang="ko-KR" sz="3200" b="0" dirty="0">
                <a:latin typeface="+mj-ea"/>
                <a:ea typeface="+mj-ea"/>
              </a:rPr>
              <a:t> 3. </a:t>
            </a:r>
            <a:r>
              <a:rPr lang="ko-KR" altLang="en-US" sz="3200" b="0" dirty="0">
                <a:latin typeface="+mj-ea"/>
                <a:ea typeface="+mj-ea"/>
              </a:rPr>
              <a:t>초기 </a:t>
            </a:r>
            <a:r>
              <a:rPr lang="en-GB" altLang="ko-KR" sz="3200" b="0" dirty="0">
                <a:latin typeface="+mj-ea"/>
                <a:ea typeface="+mj-ea"/>
              </a:rPr>
              <a:t>WBS </a:t>
            </a:r>
            <a:r>
              <a:rPr lang="ko-KR" altLang="en-US" sz="3200" b="0" dirty="0">
                <a:latin typeface="+mj-ea"/>
                <a:ea typeface="+mj-ea"/>
              </a:rPr>
              <a:t>정의</a:t>
            </a:r>
            <a:endParaRPr lang="en-US" sz="3200" b="0" dirty="0">
              <a:latin typeface="+mj-ea"/>
              <a:ea typeface="+mj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55883"/>
            <a:ext cx="9144000" cy="1553028"/>
          </a:xfrm>
        </p:spPr>
        <p:txBody>
          <a:bodyPr>
            <a:normAutofit/>
          </a:bodyPr>
          <a:lstStyle/>
          <a:p>
            <a:pPr algn="r"/>
            <a:r>
              <a:rPr lang="en-US" sz="2800" dirty="0" err="1"/>
              <a:t>SuJin</a:t>
            </a:r>
            <a:r>
              <a:rPr lang="en-US" sz="2800" dirty="0"/>
              <a:t> Choi, PhD</a:t>
            </a:r>
          </a:p>
          <a:p>
            <a:pPr algn="r"/>
            <a:r>
              <a:rPr lang="en-US" sz="2000" dirty="0" err="1"/>
              <a:t>Sogang</a:t>
            </a:r>
            <a:r>
              <a:rPr lang="en-US" sz="2000" dirty="0"/>
              <a:t> University</a:t>
            </a:r>
          </a:p>
          <a:p>
            <a:pPr algn="r"/>
            <a:r>
              <a:rPr lang="en-US" sz="2000" dirty="0"/>
              <a:t>Email: </a:t>
            </a:r>
            <a:r>
              <a:rPr lang="en-US" sz="2000" dirty="0" err="1"/>
              <a:t>sujinchoi@sogang.ac.kr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407886" y="1340078"/>
            <a:ext cx="968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07886" y="3843793"/>
            <a:ext cx="968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11" y="175000"/>
            <a:ext cx="2032451" cy="62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2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892"/>
    </mc:Choice>
    <mc:Fallback xmlns="">
      <p:transition spd="slow" advTm="888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451F-52F2-1252-15A2-17D6EE21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AD97-CEB8-45A4-6D0A-E3EF0C05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팀과제</a:t>
            </a:r>
            <a:r>
              <a:rPr lang="ko-KR" altLang="en-US" dirty="0"/>
              <a:t> </a:t>
            </a:r>
            <a:r>
              <a:rPr lang="en-US" altLang="ko-KR" dirty="0"/>
              <a:t>3. </a:t>
            </a:r>
            <a:r>
              <a:rPr lang="ko-KR" altLang="en-US" dirty="0"/>
              <a:t>초기 </a:t>
            </a:r>
            <a:r>
              <a:rPr lang="en-US" altLang="ko-KR" dirty="0"/>
              <a:t>WBS </a:t>
            </a:r>
            <a:r>
              <a:rPr lang="ko-KR" altLang="en-US" dirty="0"/>
              <a:t>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9B20B4-05AB-255F-E665-4C2FA049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개발 </a:t>
            </a:r>
            <a:r>
              <a:rPr lang="en-US" altLang="ko-KR" dirty="0"/>
              <a:t>Lifecycle </a:t>
            </a:r>
            <a:r>
              <a:rPr lang="ko-KR" altLang="en-US" dirty="0"/>
              <a:t>선정</a:t>
            </a:r>
            <a:r>
              <a:rPr lang="en-US" altLang="ko-KR" dirty="0"/>
              <a:t> (</a:t>
            </a:r>
            <a:r>
              <a:rPr lang="ko-KR" altLang="en-US" dirty="0"/>
              <a:t>사유 포함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Initial WBS (work breakdown structure) </a:t>
            </a:r>
            <a:r>
              <a:rPr lang="ko-KR" altLang="en-US" dirty="0"/>
              <a:t>초안</a:t>
            </a:r>
            <a:br>
              <a:rPr lang="en-GB" altLang="ko-KR" dirty="0"/>
            </a:br>
            <a:endParaRPr lang="en-US" altLang="ko-KR" dirty="0"/>
          </a:p>
          <a:p>
            <a:endParaRPr lang="en-GB" altLang="ko-KR" dirty="0"/>
          </a:p>
          <a:p>
            <a:pPr marL="0" indent="0">
              <a:buNone/>
            </a:pPr>
            <a:r>
              <a:rPr lang="en-US" altLang="ko-KR" dirty="0"/>
              <a:t>* </a:t>
            </a:r>
            <a:r>
              <a:rPr lang="ko-KR" altLang="en-US" dirty="0"/>
              <a:t>제출양식</a:t>
            </a:r>
            <a:r>
              <a:rPr lang="en-GB" altLang="ko-KR" dirty="0"/>
              <a:t>: </a:t>
            </a:r>
            <a:r>
              <a:rPr lang="ko-KR" altLang="en-US" dirty="0"/>
              <a:t>별도 첨부하는 엑셀로 작성하여 제출</a:t>
            </a:r>
            <a:endParaRPr lang="en-US" altLang="ko-KR" dirty="0"/>
          </a:p>
          <a:p>
            <a:endParaRPr lang="en-GB" altLang="ko-KR" dirty="0"/>
          </a:p>
          <a:p>
            <a:r>
              <a:rPr lang="ko-KR" altLang="en-US" dirty="0"/>
              <a:t>제출기한</a:t>
            </a:r>
            <a:r>
              <a:rPr lang="en-GB" altLang="ko-KR" dirty="0"/>
              <a:t>: 11/4 (02</a:t>
            </a:r>
            <a:r>
              <a:rPr lang="ko-KR" altLang="en-US" dirty="0"/>
              <a:t>분반</a:t>
            </a:r>
            <a:r>
              <a:rPr lang="en-GB" altLang="ko-KR" dirty="0"/>
              <a:t>), 11/6 (01</a:t>
            </a:r>
            <a:r>
              <a:rPr lang="ko-KR" altLang="en-US" dirty="0"/>
              <a:t>분반</a:t>
            </a:r>
            <a:r>
              <a:rPr lang="en-GB" altLang="ko-KR" dirty="0"/>
              <a:t>)</a:t>
            </a:r>
          </a:p>
          <a:p>
            <a:r>
              <a:rPr lang="ko-KR" altLang="en-US" dirty="0"/>
              <a:t>발표는 없고</a:t>
            </a:r>
            <a:r>
              <a:rPr lang="en-GB" altLang="ko-KR" dirty="0"/>
              <a:t>, </a:t>
            </a:r>
            <a:r>
              <a:rPr lang="ko-KR" altLang="en-US" dirty="0"/>
              <a:t>수업시간</a:t>
            </a:r>
            <a:r>
              <a:rPr lang="en-GB" altLang="ko-KR" dirty="0"/>
              <a:t>(11/5,11/7)</a:t>
            </a:r>
            <a:r>
              <a:rPr lang="ko-KR" altLang="en-US" dirty="0"/>
              <a:t> 중 리뷰</a:t>
            </a:r>
            <a:r>
              <a:rPr lang="en-GB" altLang="ko-KR" dirty="0"/>
              <a:t>/</a:t>
            </a:r>
            <a:r>
              <a:rPr lang="ko-KR" altLang="en-US" dirty="0"/>
              <a:t>피드백 예정임</a:t>
            </a:r>
            <a:endParaRPr lang="en-GB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48D43-F4A3-48D4-6941-F1BEB826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8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3D3D6-6DF9-4006-B327-9F245ECDE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SW Development Lifecycle </a:t>
            </a:r>
            <a:r>
              <a:rPr lang="ko-KR" altLang="en-US" dirty="0"/>
              <a:t>및 초기 </a:t>
            </a:r>
            <a:r>
              <a:rPr lang="en-US" altLang="ko-KR" dirty="0"/>
              <a:t>WBS </a:t>
            </a:r>
            <a:r>
              <a:rPr lang="ko-KR" altLang="en-US" dirty="0"/>
              <a:t>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95DDD-2512-4C07-8279-5ACAE114E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참조를 위한 표준 </a:t>
            </a:r>
            <a:r>
              <a:rPr lang="en-US" altLang="ko-KR" dirty="0"/>
              <a:t>WBS </a:t>
            </a:r>
            <a:r>
              <a:rPr lang="ko-KR" altLang="en-US" dirty="0"/>
              <a:t>확보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SW Development Life cycle </a:t>
            </a:r>
            <a:r>
              <a:rPr lang="ko-KR" altLang="en-US" dirty="0"/>
              <a:t>정의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표준 </a:t>
            </a:r>
            <a:r>
              <a:rPr lang="en-US" altLang="ko-KR" dirty="0"/>
              <a:t>WBS</a:t>
            </a:r>
            <a:r>
              <a:rPr lang="ko-KR" altLang="en-US" dirty="0"/>
              <a:t>를 활용하여 초기 </a:t>
            </a:r>
            <a:r>
              <a:rPr lang="en-US" altLang="ko-KR" dirty="0"/>
              <a:t>WBS </a:t>
            </a:r>
            <a:r>
              <a:rPr lang="ko-KR" altLang="en-US" dirty="0"/>
              <a:t>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82FEE5-316C-47FE-B6A4-36395EA7B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WBS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Work Breakdown Structure (WBS) : </a:t>
            </a:r>
            <a:r>
              <a:rPr lang="ko-KR" altLang="en-US" dirty="0"/>
              <a:t>모든 계획작업의 기초</a:t>
            </a:r>
            <a:endParaRPr lang="en-US" altLang="ko-KR" dirty="0"/>
          </a:p>
          <a:p>
            <a:r>
              <a:rPr lang="ko-KR" altLang="en-US" dirty="0"/>
              <a:t>프로젝트 팀이 프로젝트 목표를 달성하고 필요한 인도물을 산출하기 위해 실행하는 작업을 </a:t>
            </a:r>
            <a:r>
              <a:rPr lang="ko-KR" altLang="en-US" dirty="0" err="1"/>
              <a:t>인도물</a:t>
            </a:r>
            <a:r>
              <a:rPr lang="ko-KR" altLang="en-US" dirty="0"/>
              <a:t> 중심의 계층 구조로 세분해 놓은 것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프로젝트 전체 범위를 구성하고 정의함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latin typeface="가는둥근제목체" pitchFamily="18" charset="-127"/>
              </a:rPr>
              <a:t>목적</a:t>
            </a:r>
            <a:endParaRPr lang="en-US" altLang="ko-KR" dirty="0">
              <a:latin typeface="가는둥근제목체" pitchFamily="18" charset="-127"/>
            </a:endParaRPr>
          </a:p>
          <a:p>
            <a:pPr lvl="1"/>
            <a:r>
              <a:rPr lang="ko-KR" altLang="en-US" dirty="0">
                <a:latin typeface="가는둥근제목체" pitchFamily="18" charset="-127"/>
              </a:rPr>
              <a:t>전체상 파악</a:t>
            </a:r>
          </a:p>
          <a:p>
            <a:pPr lvl="1"/>
            <a:r>
              <a:rPr lang="ko-KR" altLang="en-US" dirty="0">
                <a:latin typeface="가는둥근제목체" pitchFamily="18" charset="-127"/>
              </a:rPr>
              <a:t>각 단계의 목표와 달성수단의 명확화</a:t>
            </a:r>
          </a:p>
          <a:p>
            <a:pPr lvl="1"/>
            <a:r>
              <a:rPr lang="ko-KR" altLang="en-US" dirty="0">
                <a:latin typeface="가는둥근제목체" pitchFamily="18" charset="-127"/>
              </a:rPr>
              <a:t>일정</a:t>
            </a:r>
            <a:r>
              <a:rPr lang="en-US" altLang="ko-KR" dirty="0">
                <a:latin typeface="가는둥근제목체" pitchFamily="18" charset="-127"/>
              </a:rPr>
              <a:t>, </a:t>
            </a:r>
            <a:r>
              <a:rPr lang="ko-KR" altLang="en-US" dirty="0">
                <a:latin typeface="가는둥근제목체" pitchFamily="18" charset="-127"/>
              </a:rPr>
              <a:t>자원</a:t>
            </a:r>
            <a:r>
              <a:rPr lang="en-US" altLang="ko-KR" dirty="0">
                <a:latin typeface="가는둥근제목체" pitchFamily="18" charset="-127"/>
              </a:rPr>
              <a:t>, </a:t>
            </a:r>
            <a:r>
              <a:rPr lang="ko-KR" altLang="en-US" dirty="0">
                <a:latin typeface="가는둥근제목체" pitchFamily="18" charset="-127"/>
              </a:rPr>
              <a:t>범위의 계획을 제대로 세우기 위한 기준</a:t>
            </a:r>
          </a:p>
          <a:p>
            <a:pPr lvl="1"/>
            <a:r>
              <a:rPr lang="ko-KR" altLang="en-US" dirty="0">
                <a:latin typeface="가는둥근제목체" pitchFamily="18" charset="-127"/>
              </a:rPr>
              <a:t>업무누락 방지</a:t>
            </a:r>
            <a:endParaRPr lang="en-US" altLang="ko-KR" dirty="0">
              <a:latin typeface="가는둥근제목체" pitchFamily="18" charset="-127"/>
            </a:endParaRPr>
          </a:p>
          <a:p>
            <a:pPr lvl="1"/>
            <a:r>
              <a:rPr lang="ko-KR" altLang="en-US" dirty="0">
                <a:latin typeface="가는둥근제목체" pitchFamily="18" charset="-127"/>
              </a:rPr>
              <a:t>이후 프로젝트의 진행</a:t>
            </a:r>
            <a:r>
              <a:rPr lang="en-US" altLang="ko-KR" dirty="0">
                <a:latin typeface="가는둥근제목체" pitchFamily="18" charset="-127"/>
              </a:rPr>
              <a:t>, </a:t>
            </a:r>
            <a:r>
              <a:rPr lang="ko-KR" altLang="en-US" dirty="0">
                <a:latin typeface="가는둥근제목체" pitchFamily="18" charset="-127"/>
              </a:rPr>
              <a:t>추적 관리의 기준</a:t>
            </a:r>
            <a:endParaRPr lang="en-US" altLang="ko-KR" dirty="0">
              <a:latin typeface="가는둥근제목체" pitchFamily="18" charset="-127"/>
            </a:endParaRPr>
          </a:p>
          <a:p>
            <a:pPr lvl="1"/>
            <a:r>
              <a:rPr lang="ko-KR" altLang="en-US" dirty="0">
                <a:latin typeface="가는둥근제목체" pitchFamily="18" charset="-127"/>
              </a:rPr>
              <a:t>원가 집계</a:t>
            </a:r>
            <a:r>
              <a:rPr lang="en-US" altLang="ko-KR" dirty="0">
                <a:latin typeface="가는둥근제목체" pitchFamily="18" charset="-127"/>
              </a:rPr>
              <a:t>, </a:t>
            </a:r>
            <a:r>
              <a:rPr lang="ko-KR" altLang="en-US" dirty="0">
                <a:latin typeface="가는둥근제목체" pitchFamily="18" charset="-127"/>
              </a:rPr>
              <a:t>요약</a:t>
            </a:r>
            <a:r>
              <a:rPr lang="en-US" altLang="ko-KR" dirty="0">
                <a:latin typeface="가는둥근제목체" pitchFamily="18" charset="-127"/>
              </a:rPr>
              <a:t>/</a:t>
            </a:r>
            <a:r>
              <a:rPr lang="ko-KR" altLang="en-US" dirty="0">
                <a:latin typeface="가는둥근제목체" pitchFamily="18" charset="-127"/>
              </a:rPr>
              <a:t>보고의 체계</a:t>
            </a:r>
            <a:r>
              <a:rPr lang="en-US" altLang="ko-KR" dirty="0">
                <a:latin typeface="가는둥근제목체" pitchFamily="18" charset="-127"/>
              </a:rPr>
              <a:t> </a:t>
            </a:r>
            <a:endParaRPr lang="ko-KR" altLang="en-US" dirty="0">
              <a:latin typeface="가는둥근제목체" pitchFamily="18" charset="-127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39" name="Group 65">
            <a:extLst>
              <a:ext uri="{FF2B5EF4-FFF2-40B4-BE49-F238E27FC236}">
                <a16:creationId xmlns:a16="http://schemas.microsoft.com/office/drawing/2014/main" id="{22CD66FD-D5A4-9911-E55D-E6E89DFB1512}"/>
              </a:ext>
            </a:extLst>
          </p:cNvPr>
          <p:cNvGrpSpPr>
            <a:grpSpLocks/>
          </p:cNvGrpSpPr>
          <p:nvPr/>
        </p:nvGrpSpPr>
        <p:grpSpPr bwMode="auto">
          <a:xfrm>
            <a:off x="9424500" y="3226765"/>
            <a:ext cx="2087303" cy="1360487"/>
            <a:chOff x="769" y="1297"/>
            <a:chExt cx="4174" cy="814"/>
          </a:xfrm>
        </p:grpSpPr>
        <p:sp>
          <p:nvSpPr>
            <p:cNvPr id="40" name="Rectangle 66">
              <a:extLst>
                <a:ext uri="{FF2B5EF4-FFF2-40B4-BE49-F238E27FC236}">
                  <a16:creationId xmlns:a16="http://schemas.microsoft.com/office/drawing/2014/main" id="{7A1C01E6-C8CB-ABC4-5CEB-164ABEDD6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1297"/>
              <a:ext cx="1102" cy="286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1" name="Rectangle 67">
              <a:extLst>
                <a:ext uri="{FF2B5EF4-FFF2-40B4-BE49-F238E27FC236}">
                  <a16:creationId xmlns:a16="http://schemas.microsoft.com/office/drawing/2014/main" id="{B0126DFF-22BF-37B2-681C-3D867B4A6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2" name="Rectangle 68">
              <a:extLst>
                <a:ext uri="{FF2B5EF4-FFF2-40B4-BE49-F238E27FC236}">
                  <a16:creationId xmlns:a16="http://schemas.microsoft.com/office/drawing/2014/main" id="{ADF0786E-522E-D519-8B3D-DE4553729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6EF530E1-5296-07E3-D5D5-01A2A8055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4" name="Rectangle 70">
              <a:extLst>
                <a:ext uri="{FF2B5EF4-FFF2-40B4-BE49-F238E27FC236}">
                  <a16:creationId xmlns:a16="http://schemas.microsoft.com/office/drawing/2014/main" id="{1ECFADA7-FAE3-FBCA-F657-FE1221295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5" name="Line 71">
              <a:extLst>
                <a:ext uri="{FF2B5EF4-FFF2-40B4-BE49-F238E27FC236}">
                  <a16:creationId xmlns:a16="http://schemas.microsoft.com/office/drawing/2014/main" id="{F4E4B90A-0B79-3D47-B5F4-C10CC5AF0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" y="1728"/>
              <a:ext cx="34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6" name="Line 72">
              <a:extLst>
                <a:ext uri="{FF2B5EF4-FFF2-40B4-BE49-F238E27FC236}">
                  <a16:creationId xmlns:a16="http://schemas.microsoft.com/office/drawing/2014/main" id="{AC6090AC-82EE-5796-2A4F-B1DE19750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7" name="Line 73">
              <a:extLst>
                <a:ext uri="{FF2B5EF4-FFF2-40B4-BE49-F238E27FC236}">
                  <a16:creationId xmlns:a16="http://schemas.microsoft.com/office/drawing/2014/main" id="{4F3FBD49-E54A-05FF-8266-C28A1F5BB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87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8" name="Line 74">
              <a:extLst>
                <a:ext uri="{FF2B5EF4-FFF2-40B4-BE49-F238E27FC236}">
                  <a16:creationId xmlns:a16="http://schemas.microsoft.com/office/drawing/2014/main" id="{690FD837-2A8C-42A8-95B1-757B2D2447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9" name="Line 75">
              <a:extLst>
                <a:ext uri="{FF2B5EF4-FFF2-40B4-BE49-F238E27FC236}">
                  <a16:creationId xmlns:a16="http://schemas.microsoft.com/office/drawing/2014/main" id="{B0E40B27-9D59-4BB2-F9DE-B757E4E7C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0" name="Line 76">
              <a:extLst>
                <a:ext uri="{FF2B5EF4-FFF2-40B4-BE49-F238E27FC236}">
                  <a16:creationId xmlns:a16="http://schemas.microsoft.com/office/drawing/2014/main" id="{15735F82-F94C-CBC8-A53E-055ADFE51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51" name="Group 65">
            <a:extLst>
              <a:ext uri="{FF2B5EF4-FFF2-40B4-BE49-F238E27FC236}">
                <a16:creationId xmlns:a16="http://schemas.microsoft.com/office/drawing/2014/main" id="{21EDCA7B-FB4C-C0CC-5366-016DC62BB3E7}"/>
              </a:ext>
            </a:extLst>
          </p:cNvPr>
          <p:cNvGrpSpPr>
            <a:grpSpLocks/>
          </p:cNvGrpSpPr>
          <p:nvPr/>
        </p:nvGrpSpPr>
        <p:grpSpPr bwMode="auto">
          <a:xfrm>
            <a:off x="8734177" y="4617020"/>
            <a:ext cx="1745976" cy="858213"/>
            <a:chOff x="769" y="1587"/>
            <a:chExt cx="4174" cy="524"/>
          </a:xfrm>
        </p:grpSpPr>
        <p:sp>
          <p:nvSpPr>
            <p:cNvPr id="52" name="Rectangle 67">
              <a:extLst>
                <a:ext uri="{FF2B5EF4-FFF2-40B4-BE49-F238E27FC236}">
                  <a16:creationId xmlns:a16="http://schemas.microsoft.com/office/drawing/2014/main" id="{6A671FAB-7209-27E7-44BA-A7FC2DC85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3" name="Rectangle 68">
              <a:extLst>
                <a:ext uri="{FF2B5EF4-FFF2-40B4-BE49-F238E27FC236}">
                  <a16:creationId xmlns:a16="http://schemas.microsoft.com/office/drawing/2014/main" id="{C5ED32FC-450C-0B2B-5EEC-6CAAB302C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4" name="Rectangle 69">
              <a:extLst>
                <a:ext uri="{FF2B5EF4-FFF2-40B4-BE49-F238E27FC236}">
                  <a16:creationId xmlns:a16="http://schemas.microsoft.com/office/drawing/2014/main" id="{7E487A30-B6AE-E6E1-5C9D-352CE5858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5" name="Rectangle 70">
              <a:extLst>
                <a:ext uri="{FF2B5EF4-FFF2-40B4-BE49-F238E27FC236}">
                  <a16:creationId xmlns:a16="http://schemas.microsoft.com/office/drawing/2014/main" id="{206BE969-9D19-5623-5A47-28647C85F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6" name="Line 71">
              <a:extLst>
                <a:ext uri="{FF2B5EF4-FFF2-40B4-BE49-F238E27FC236}">
                  <a16:creationId xmlns:a16="http://schemas.microsoft.com/office/drawing/2014/main" id="{D7C19C86-9BA0-2D85-DF03-0F80387A4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" y="1728"/>
              <a:ext cx="34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7" name="Line 72">
              <a:extLst>
                <a:ext uri="{FF2B5EF4-FFF2-40B4-BE49-F238E27FC236}">
                  <a16:creationId xmlns:a16="http://schemas.microsoft.com/office/drawing/2014/main" id="{9DF5A9D4-03AF-BE1B-B704-34029263E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8" name="Line 73">
              <a:extLst>
                <a:ext uri="{FF2B5EF4-FFF2-40B4-BE49-F238E27FC236}">
                  <a16:creationId xmlns:a16="http://schemas.microsoft.com/office/drawing/2014/main" id="{90AFCB29-94A4-7936-6680-0AEE6F8CD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87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9" name="Line 74">
              <a:extLst>
                <a:ext uri="{FF2B5EF4-FFF2-40B4-BE49-F238E27FC236}">
                  <a16:creationId xmlns:a16="http://schemas.microsoft.com/office/drawing/2014/main" id="{04EB5A49-CC8E-80F8-B053-DE744ABC6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0" name="Line 75">
              <a:extLst>
                <a:ext uri="{FF2B5EF4-FFF2-40B4-BE49-F238E27FC236}">
                  <a16:creationId xmlns:a16="http://schemas.microsoft.com/office/drawing/2014/main" id="{28D7B7F2-EC7E-0D37-CE6F-8121DD508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1" name="Line 76">
              <a:extLst>
                <a:ext uri="{FF2B5EF4-FFF2-40B4-BE49-F238E27FC236}">
                  <a16:creationId xmlns:a16="http://schemas.microsoft.com/office/drawing/2014/main" id="{724C21A4-1593-E932-4C5B-E29163E4D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62" name="Group 65">
            <a:extLst>
              <a:ext uri="{FF2B5EF4-FFF2-40B4-BE49-F238E27FC236}">
                <a16:creationId xmlns:a16="http://schemas.microsoft.com/office/drawing/2014/main" id="{EAD3EBA1-BEA1-099D-6EB7-855F11673D8F}"/>
              </a:ext>
            </a:extLst>
          </p:cNvPr>
          <p:cNvGrpSpPr>
            <a:grpSpLocks/>
          </p:cNvGrpSpPr>
          <p:nvPr/>
        </p:nvGrpSpPr>
        <p:grpSpPr bwMode="auto">
          <a:xfrm>
            <a:off x="9467035" y="5523542"/>
            <a:ext cx="1745976" cy="858213"/>
            <a:chOff x="769" y="1587"/>
            <a:chExt cx="4174" cy="524"/>
          </a:xfrm>
        </p:grpSpPr>
        <p:sp>
          <p:nvSpPr>
            <p:cNvPr id="63" name="Rectangle 67">
              <a:extLst>
                <a:ext uri="{FF2B5EF4-FFF2-40B4-BE49-F238E27FC236}">
                  <a16:creationId xmlns:a16="http://schemas.microsoft.com/office/drawing/2014/main" id="{51EFDC46-E3CB-CB79-B0E2-E9F9E6B2B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4" name="Rectangle 68">
              <a:extLst>
                <a:ext uri="{FF2B5EF4-FFF2-40B4-BE49-F238E27FC236}">
                  <a16:creationId xmlns:a16="http://schemas.microsoft.com/office/drawing/2014/main" id="{11EAF009-A5CD-51F5-7188-BD9834CD7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5" name="Rectangle 69">
              <a:extLst>
                <a:ext uri="{FF2B5EF4-FFF2-40B4-BE49-F238E27FC236}">
                  <a16:creationId xmlns:a16="http://schemas.microsoft.com/office/drawing/2014/main" id="{E396AD9E-02CB-2FC4-81EB-314728EB9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6" name="Rectangle 70">
              <a:extLst>
                <a:ext uri="{FF2B5EF4-FFF2-40B4-BE49-F238E27FC236}">
                  <a16:creationId xmlns:a16="http://schemas.microsoft.com/office/drawing/2014/main" id="{28FE2ABC-FCFE-3E9E-AA21-99E7B887D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7" name="Line 71">
              <a:extLst>
                <a:ext uri="{FF2B5EF4-FFF2-40B4-BE49-F238E27FC236}">
                  <a16:creationId xmlns:a16="http://schemas.microsoft.com/office/drawing/2014/main" id="{5ABA18D1-3654-FBAA-4090-6E963822A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" y="1728"/>
              <a:ext cx="34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8" name="Line 72">
              <a:extLst>
                <a:ext uri="{FF2B5EF4-FFF2-40B4-BE49-F238E27FC236}">
                  <a16:creationId xmlns:a16="http://schemas.microsoft.com/office/drawing/2014/main" id="{B03F4239-77F3-DDEF-0553-AC908D62F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9" name="Line 73">
              <a:extLst>
                <a:ext uri="{FF2B5EF4-FFF2-40B4-BE49-F238E27FC236}">
                  <a16:creationId xmlns:a16="http://schemas.microsoft.com/office/drawing/2014/main" id="{0CCC01C7-F806-6964-235B-FA4F7868C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87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0" name="Line 74">
              <a:extLst>
                <a:ext uri="{FF2B5EF4-FFF2-40B4-BE49-F238E27FC236}">
                  <a16:creationId xmlns:a16="http://schemas.microsoft.com/office/drawing/2014/main" id="{D2449514-BF49-A333-33D4-DE43D9753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1" name="Line 75">
              <a:extLst>
                <a:ext uri="{FF2B5EF4-FFF2-40B4-BE49-F238E27FC236}">
                  <a16:creationId xmlns:a16="http://schemas.microsoft.com/office/drawing/2014/main" id="{0F617F4A-8239-6DE9-1BBA-73770715B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2" name="Line 76">
              <a:extLst>
                <a:ext uri="{FF2B5EF4-FFF2-40B4-BE49-F238E27FC236}">
                  <a16:creationId xmlns:a16="http://schemas.microsoft.com/office/drawing/2014/main" id="{C1C29D31-E511-0CEA-1718-4A456DDFB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참조를 위한 표준 </a:t>
            </a:r>
            <a:r>
              <a:rPr lang="en-US" altLang="ko-KR" dirty="0"/>
              <a:t>WBS </a:t>
            </a:r>
            <a:r>
              <a:rPr lang="ko-KR" altLang="en-US" dirty="0"/>
              <a:t>확보</a:t>
            </a:r>
            <a:endParaRPr lang="en-US" altLang="ko-K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기준이 되는 </a:t>
            </a:r>
            <a:r>
              <a:rPr lang="en-US" altLang="ko-KR" dirty="0"/>
              <a:t>WBS</a:t>
            </a:r>
            <a:r>
              <a:rPr lang="ko-KR" altLang="en-US" dirty="0"/>
              <a:t>를 정하고 그 내용을 확인한다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실제 업계에서 활용도가 높은 </a:t>
            </a:r>
            <a:r>
              <a:rPr lang="en-US" altLang="ko-KR" dirty="0"/>
              <a:t>3</a:t>
            </a:r>
            <a:r>
              <a:rPr lang="ko-KR" altLang="en-US" dirty="0"/>
              <a:t>가지 표준 </a:t>
            </a:r>
            <a:r>
              <a:rPr lang="en-US" altLang="ko-KR" dirty="0"/>
              <a:t>WBS </a:t>
            </a:r>
            <a:r>
              <a:rPr lang="ko-KR" altLang="en-US" dirty="0"/>
              <a:t>사례 중 선정 또는 이를 기반으로 자체적인 표준 </a:t>
            </a:r>
            <a:r>
              <a:rPr lang="en-US" altLang="ko-KR" dirty="0"/>
              <a:t>WBS</a:t>
            </a:r>
            <a:r>
              <a:rPr lang="ko-KR" altLang="en-US" dirty="0"/>
              <a:t>를 정의할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2756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18EF11-03FB-45EF-9558-96C324EE2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표준 </a:t>
            </a:r>
            <a:r>
              <a:rPr lang="en-US" altLang="ko-KR" dirty="0"/>
              <a:t>WBS</a:t>
            </a:r>
            <a:r>
              <a:rPr lang="ko-KR" altLang="en-US" dirty="0"/>
              <a:t>사례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BBAF8C1-FDC3-A20D-2FB8-EF3ABAE7C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CC7D3-AB7C-4C30-8730-7F490D38E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AAF2A9-ABA9-4E2C-A820-52955BC52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8" y="787960"/>
            <a:ext cx="6154528" cy="55006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20B31E6-1756-40F7-B2F9-3CDD29C68B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824" r="6283"/>
          <a:stretch/>
        </p:blipFill>
        <p:spPr>
          <a:xfrm>
            <a:off x="6096000" y="2520436"/>
            <a:ext cx="5852772" cy="38115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9C2D329-30F9-4955-9029-6F8681121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6970" y="265852"/>
            <a:ext cx="949166" cy="147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38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5D042-A57B-4CD0-967A-13454CE2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표준 </a:t>
            </a:r>
            <a:r>
              <a:rPr lang="en-US" altLang="ko-KR" dirty="0"/>
              <a:t>WBS</a:t>
            </a:r>
            <a:r>
              <a:rPr lang="ko-KR" altLang="en-US" dirty="0"/>
              <a:t>사례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F7A7F-F56D-449B-BDB4-C622F0FCA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SW</a:t>
            </a:r>
            <a:r>
              <a:rPr lang="ko-KR" altLang="en-US" dirty="0"/>
              <a:t>개발 표준 산출물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C27B44-D0BF-40B2-A763-54A464A8F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CBADD0-0CE2-4221-9A7B-DA140369A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25" y="0"/>
            <a:ext cx="4960066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C052A3-06AE-47C4-BEF4-F0D05A928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486" y="110854"/>
            <a:ext cx="1550533" cy="50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32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4316F-84E6-4625-8BC5-BF893DF0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표준 </a:t>
            </a:r>
            <a:r>
              <a:rPr lang="en-US" altLang="ko-KR" dirty="0"/>
              <a:t>WBS</a:t>
            </a:r>
            <a:r>
              <a:rPr lang="ko-KR" altLang="en-US" dirty="0"/>
              <a:t>사례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14A7EB1-FF8A-049E-D430-4B76C8639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3FB1A8-523F-40A8-8DC2-DE3EB90EF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33C4DE-DF4C-4DE0-80BD-D5F3E1F4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56" y="694863"/>
            <a:ext cx="11130611" cy="60630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F882212-E1BB-4A9E-B6E3-A99B7EA38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237" y="64023"/>
            <a:ext cx="138112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6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06E56-89B2-4EF2-A913-F98849307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표준 </a:t>
            </a:r>
            <a:r>
              <a:rPr lang="en-US" altLang="ko-KR" dirty="0"/>
              <a:t>WBS</a:t>
            </a:r>
            <a:r>
              <a:rPr lang="ko-KR" altLang="en-US" dirty="0"/>
              <a:t>사례 </a:t>
            </a:r>
            <a:r>
              <a:rPr lang="en-US" altLang="ko-KR" dirty="0"/>
              <a:t>3 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D18474-A308-4FEA-B486-EA35968B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국방 컴포넌트 기반 개발방법론 </a:t>
            </a:r>
            <a:r>
              <a:rPr lang="en-US" altLang="ko-KR" sz="2000" dirty="0"/>
              <a:t>(</a:t>
            </a:r>
            <a:r>
              <a:rPr lang="ko-KR" altLang="en-US" sz="2000" dirty="0"/>
              <a:t>계속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62C109-D40D-4C22-BC9E-0640EE832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142C0AE-88E6-461C-932F-ECEF57FBE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20" y="1439422"/>
            <a:ext cx="11713490" cy="37410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B865478-78BB-4650-884D-E133076A8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237" y="64023"/>
            <a:ext cx="138112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9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ko-KR" dirty="0"/>
              <a:t>2. SW Development Lifecyle </a:t>
            </a:r>
            <a:r>
              <a:rPr lang="ko-KR" altLang="en-US" dirty="0"/>
              <a:t>정의 </a:t>
            </a:r>
            <a:r>
              <a:rPr lang="en-US" altLang="ko-KR" dirty="0"/>
              <a:t>(</a:t>
            </a:r>
            <a:r>
              <a:rPr lang="ko-KR" altLang="en-US" dirty="0"/>
              <a:t>결정사유 포함</a:t>
            </a:r>
            <a:r>
              <a:rPr lang="en-US" altLang="ko-KR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2000" dirty="0"/>
              <a:t>(1) </a:t>
            </a:r>
            <a:r>
              <a:rPr lang="ko-KR" altLang="en-US" sz="2000" b="1" dirty="0"/>
              <a:t>우선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언제 사용자에게 서비스를 시작할 것인가</a:t>
            </a:r>
            <a:r>
              <a:rPr lang="en-US" altLang="ko-KR" sz="2000" b="1" dirty="0"/>
              <a:t>? </a:t>
            </a:r>
            <a:r>
              <a:rPr lang="ko-KR" altLang="en-US" sz="2000" dirty="0"/>
              <a:t>개발하는 제품의 시장 배포 시기 또는 주기를 결정함</a:t>
            </a:r>
          </a:p>
          <a:p>
            <a:pPr lvl="1">
              <a:lnSpc>
                <a:spcPct val="110000"/>
              </a:lnSpc>
              <a:buFont typeface="Wingdings" charset="2"/>
              <a:buChar char="ü"/>
            </a:pPr>
            <a:r>
              <a:rPr lang="ko-KR" altLang="en-US" sz="2000" dirty="0"/>
              <a:t> </a:t>
            </a:r>
            <a:r>
              <a:rPr lang="en-US" altLang="ko-KR" sz="2000" dirty="0"/>
              <a:t>CASE 1. </a:t>
            </a:r>
            <a:r>
              <a:rPr lang="ko-KR" altLang="en-US" sz="2000" dirty="0"/>
              <a:t>개발 </a:t>
            </a:r>
            <a:r>
              <a:rPr lang="ko-KR" altLang="en-US" sz="2000" dirty="0" err="1"/>
              <a:t>완료후</a:t>
            </a:r>
            <a:r>
              <a:rPr lang="ko-KR" altLang="en-US" sz="2000" dirty="0"/>
              <a:t> 한번만 배포 </a:t>
            </a:r>
            <a:r>
              <a:rPr lang="en-US" altLang="ko-KR" sz="2000" dirty="0"/>
              <a:t>(Waterfall Model)</a:t>
            </a:r>
          </a:p>
          <a:p>
            <a:pPr lvl="1">
              <a:lnSpc>
                <a:spcPct val="110000"/>
              </a:lnSpc>
              <a:buFont typeface="Wingdings" charset="2"/>
              <a:buChar char="ü"/>
            </a:pPr>
            <a:r>
              <a:rPr lang="en-US" altLang="ko-KR" sz="2000" dirty="0"/>
              <a:t> CASE 2. </a:t>
            </a:r>
            <a:r>
              <a:rPr lang="ko-KR" altLang="en-US" sz="2000" dirty="0"/>
              <a:t>전체 기능을 구분하여 단계적으로 배포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en-US" altLang="ko-KR" sz="2000" dirty="0"/>
              <a:t>1</a:t>
            </a:r>
            <a:r>
              <a:rPr lang="ko-KR" altLang="en-US" sz="2000" dirty="0"/>
              <a:t>차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2</a:t>
            </a:r>
            <a:r>
              <a:rPr lang="ko-KR" altLang="en-US" sz="2000" dirty="0"/>
              <a:t>차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3</a:t>
            </a:r>
            <a:r>
              <a:rPr lang="ko-KR" altLang="en-US" sz="2000" dirty="0"/>
              <a:t>차 런치 등 </a:t>
            </a:r>
            <a:r>
              <a:rPr lang="en-US" altLang="ko-KR" sz="2000" dirty="0"/>
              <a:t>(Incremental Model)</a:t>
            </a:r>
            <a:endParaRPr lang="ko-KR" altLang="en-US" sz="2000" dirty="0"/>
          </a:p>
          <a:p>
            <a:pPr lvl="1">
              <a:lnSpc>
                <a:spcPct val="110000"/>
              </a:lnSpc>
              <a:buFont typeface="Wingdings" charset="2"/>
              <a:buChar char="ü"/>
            </a:pPr>
            <a:r>
              <a:rPr lang="ko-KR" altLang="en-US" sz="2000" dirty="0"/>
              <a:t> </a:t>
            </a:r>
            <a:r>
              <a:rPr lang="en-US" altLang="ko-KR" sz="2000" dirty="0"/>
              <a:t>CASE 3. </a:t>
            </a:r>
            <a:r>
              <a:rPr lang="ko-KR" altLang="en-US" sz="2000" dirty="0"/>
              <a:t>개발 초기부터 매월 또는 격주로 주기적으로 배포 </a:t>
            </a:r>
            <a:r>
              <a:rPr lang="en-US" altLang="ko-KR" sz="2000" dirty="0"/>
              <a:t>(Agile Model)</a:t>
            </a:r>
          </a:p>
          <a:p>
            <a:pPr lvl="1">
              <a:lnSpc>
                <a:spcPct val="110000"/>
              </a:lnSpc>
              <a:buFont typeface="Wingdings" charset="2"/>
              <a:buChar char="ü"/>
            </a:pPr>
            <a:r>
              <a:rPr lang="ko-KR" altLang="en-US" sz="2000" dirty="0"/>
              <a:t> </a:t>
            </a:r>
            <a:r>
              <a:rPr lang="en-GB" altLang="ko-KR" sz="2000" dirty="0"/>
              <a:t>CASE 4. </a:t>
            </a:r>
            <a:r>
              <a:rPr lang="ko-KR" altLang="en-US" sz="2000" dirty="0"/>
              <a:t>기본 기능의 </a:t>
            </a:r>
            <a:r>
              <a:rPr lang="en-GB" altLang="ko-KR" sz="2000" dirty="0"/>
              <a:t>1</a:t>
            </a:r>
            <a:r>
              <a:rPr lang="ko-KR" altLang="en-US" sz="2000" dirty="0"/>
              <a:t>차 배포 이후</a:t>
            </a:r>
            <a:r>
              <a:rPr lang="en-GB" altLang="ko-KR" sz="2000" dirty="0"/>
              <a:t>, </a:t>
            </a:r>
            <a:r>
              <a:rPr lang="ko-KR" altLang="en-US" sz="2000" dirty="0"/>
              <a:t>매월 또는 격주로 배포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ko-KR" sz="2000" dirty="0"/>
              <a:t>* </a:t>
            </a:r>
            <a:r>
              <a:rPr lang="ko-KR" altLang="en-US" sz="2000" dirty="0"/>
              <a:t>프로젝트 전체 기간은 </a:t>
            </a:r>
            <a:r>
              <a:rPr lang="en-US" altLang="ko-KR" sz="2000" dirty="0"/>
              <a:t>1</a:t>
            </a:r>
            <a:r>
              <a:rPr lang="ko-KR" altLang="en-US" sz="2000" dirty="0"/>
              <a:t>년으로 가정함</a:t>
            </a:r>
            <a:r>
              <a:rPr lang="en-US" altLang="ko-KR" sz="2000" dirty="0"/>
              <a:t>. </a:t>
            </a:r>
            <a:br>
              <a:rPr lang="en-US" altLang="ko-KR" sz="2000" dirty="0"/>
            </a:br>
            <a:r>
              <a:rPr lang="en-US" altLang="ko-KR" sz="2000" dirty="0"/>
              <a:t>* </a:t>
            </a:r>
            <a:r>
              <a:rPr lang="ko-KR" altLang="en-US" sz="2000" dirty="0"/>
              <a:t>가능한 </a:t>
            </a:r>
            <a:r>
              <a:rPr lang="en-US" altLang="ko-KR" sz="2000" dirty="0"/>
              <a:t>case 1</a:t>
            </a:r>
            <a:r>
              <a:rPr lang="ko-KR" altLang="en-US" sz="2000" dirty="0"/>
              <a:t>은 사용하지 않음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000" dirty="0"/>
              <a:t>(2) </a:t>
            </a:r>
            <a:r>
              <a:rPr lang="ko-KR" altLang="en-US" sz="2000" dirty="0"/>
              <a:t>다음으로</a:t>
            </a:r>
            <a:r>
              <a:rPr lang="en-US" altLang="ko-KR" sz="2000" dirty="0"/>
              <a:t>,</a:t>
            </a:r>
            <a:r>
              <a:rPr lang="ko-KR" altLang="en-US" sz="2000" dirty="0"/>
              <a:t> 배포를 위해 수행하는 사전 단계인 분석</a:t>
            </a:r>
            <a:r>
              <a:rPr lang="en-US" altLang="ko-KR" sz="2000" dirty="0"/>
              <a:t>-</a:t>
            </a:r>
            <a:r>
              <a:rPr lang="ko-KR" altLang="en-US" sz="2000" dirty="0"/>
              <a:t>설계</a:t>
            </a:r>
            <a:r>
              <a:rPr lang="en-US" altLang="ko-KR" sz="2000" dirty="0"/>
              <a:t>-</a:t>
            </a:r>
            <a:r>
              <a:rPr lang="ko-KR" altLang="en-US" sz="2000" dirty="0"/>
              <a:t>구현</a:t>
            </a:r>
            <a:r>
              <a:rPr lang="en-US" altLang="ko-KR" sz="2000" dirty="0"/>
              <a:t>-</a:t>
            </a:r>
            <a:r>
              <a:rPr lang="ko-KR" altLang="en-US" sz="2000" dirty="0"/>
              <a:t>시험에 대한 활동을 순차적으로 진행할 것인지 </a:t>
            </a:r>
            <a:r>
              <a:rPr lang="en-US" altLang="ko-KR" sz="2000" dirty="0"/>
              <a:t>Timebox </a:t>
            </a:r>
            <a:r>
              <a:rPr lang="ko-KR" altLang="en-US" sz="2000" dirty="0"/>
              <a:t>반복주기</a:t>
            </a:r>
            <a:r>
              <a:rPr lang="en-US" altLang="ko-KR" sz="2000" dirty="0"/>
              <a:t>(sprint)</a:t>
            </a:r>
            <a:r>
              <a:rPr lang="ko-KR" altLang="en-US" sz="2000" dirty="0"/>
              <a:t>를 구성할지 결정함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</a:p>
          <a:p>
            <a:pPr lvl="1">
              <a:lnSpc>
                <a:spcPct val="110000"/>
              </a:lnSpc>
              <a:buFont typeface="Wingdings" charset="2"/>
              <a:buChar char="ü"/>
            </a:pPr>
            <a:r>
              <a:rPr lang="en-US" altLang="ko-KR" sz="2000" dirty="0"/>
              <a:t>CASE 1. </a:t>
            </a:r>
            <a:r>
              <a:rPr lang="ko-KR" altLang="en-US" sz="2000" dirty="0"/>
              <a:t>각 배포주기별로 분석 </a:t>
            </a:r>
            <a:r>
              <a:rPr lang="en-US" altLang="ko-KR" sz="2000" dirty="0"/>
              <a:t>–</a:t>
            </a:r>
            <a:r>
              <a:rPr lang="ko-KR" altLang="en-US" sz="2000" dirty="0"/>
              <a:t> 설계 </a:t>
            </a:r>
            <a:r>
              <a:rPr lang="en-US" altLang="ko-KR" sz="2000" dirty="0"/>
              <a:t>–</a:t>
            </a:r>
            <a:r>
              <a:rPr lang="ko-KR" altLang="en-US" sz="2000" dirty="0"/>
              <a:t> 구현 </a:t>
            </a:r>
            <a:r>
              <a:rPr lang="en-US" altLang="ko-KR" sz="2000" dirty="0"/>
              <a:t>–</a:t>
            </a:r>
            <a:r>
              <a:rPr lang="ko-KR" altLang="en-US" sz="2000" dirty="0"/>
              <a:t> 시험 각 단계를 순차적으로 이행</a:t>
            </a:r>
            <a:endParaRPr lang="en-US" altLang="ko-KR" sz="2000" dirty="0"/>
          </a:p>
          <a:p>
            <a:pPr lvl="1">
              <a:lnSpc>
                <a:spcPct val="110000"/>
              </a:lnSpc>
              <a:buFont typeface="Wingdings" charset="2"/>
              <a:buChar char="ü"/>
            </a:pPr>
            <a:r>
              <a:rPr lang="en-US" altLang="ko-KR" sz="2000" dirty="0"/>
              <a:t>CASE 2. </a:t>
            </a:r>
            <a:r>
              <a:rPr lang="ko-KR" altLang="en-US" sz="2000" dirty="0"/>
              <a:t>분석과 </a:t>
            </a:r>
            <a:r>
              <a:rPr lang="ko-KR" altLang="en-US" sz="2000" dirty="0" err="1"/>
              <a:t>아키텍쳐</a:t>
            </a:r>
            <a:r>
              <a:rPr lang="ko-KR" altLang="en-US" sz="2000" dirty="0"/>
              <a:t> 설계는 프로젝트 초기에 한번 수행하고  </a:t>
            </a:r>
            <a:r>
              <a:rPr lang="en-US" altLang="ko-KR" sz="2000" dirty="0"/>
              <a:t>(</a:t>
            </a:r>
            <a:r>
              <a:rPr lang="ko-KR" altLang="en-US" sz="2000" dirty="0"/>
              <a:t>상세설계</a:t>
            </a:r>
            <a:r>
              <a:rPr lang="en-US" altLang="ko-KR" sz="2000" dirty="0"/>
              <a:t>-</a:t>
            </a:r>
            <a:r>
              <a:rPr lang="ko-KR" altLang="en-US" sz="2000" dirty="0"/>
              <a:t>구현</a:t>
            </a:r>
            <a:r>
              <a:rPr lang="en-US" altLang="ko-KR" sz="2000" dirty="0"/>
              <a:t>-</a:t>
            </a:r>
            <a:r>
              <a:rPr lang="ko-KR" altLang="en-US" sz="2000" dirty="0"/>
              <a:t>시험</a:t>
            </a:r>
            <a:r>
              <a:rPr lang="en-US" altLang="ko-KR" sz="2000" dirty="0"/>
              <a:t>) </a:t>
            </a:r>
            <a:r>
              <a:rPr lang="ko-KR" altLang="en-US" sz="2000" dirty="0"/>
              <a:t>은 </a:t>
            </a:r>
            <a:r>
              <a:rPr lang="en-US" altLang="ko-KR" sz="2000" dirty="0"/>
              <a:t>Timebox </a:t>
            </a:r>
            <a:r>
              <a:rPr lang="ko-KR" altLang="en-US" sz="2000" dirty="0"/>
              <a:t>반복주기로</a:t>
            </a:r>
            <a:r>
              <a:rPr lang="en-US" altLang="ko-KR" sz="2000" dirty="0"/>
              <a:t> </a:t>
            </a:r>
            <a:r>
              <a:rPr lang="ko-KR" altLang="en-US" sz="2000" dirty="0"/>
              <a:t>수행</a:t>
            </a:r>
            <a:br>
              <a:rPr lang="en-US" altLang="ko-KR" sz="1800" dirty="0"/>
            </a:br>
            <a:r>
              <a:rPr lang="ko-KR" altLang="en-US" sz="1800" dirty="0"/>
              <a:t>* 상기 언급된 </a:t>
            </a:r>
            <a:r>
              <a:rPr lang="en-US" altLang="ko-KR" sz="1800" dirty="0"/>
              <a:t>CASE</a:t>
            </a:r>
            <a:r>
              <a:rPr lang="ko-KR" altLang="en-US" sz="1800" dirty="0"/>
              <a:t> 는 대표적인 사례를 표현한 것으로 프로젝트에 따라 다양하게 구성함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093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1EA77-2CE7-4853-A810-AA76F6CB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참고</a:t>
            </a:r>
            <a:r>
              <a:rPr lang="en-US" altLang="ko-KR" dirty="0"/>
              <a:t>. Staged Delivery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22946C6-9B40-CA43-9540-68C718A29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90E2EB-AD29-43D3-824B-76DC3429A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881A44D-F52C-45FF-AA6E-C3D7751311C4}"/>
              </a:ext>
            </a:extLst>
          </p:cNvPr>
          <p:cNvGrpSpPr/>
          <p:nvPr/>
        </p:nvGrpSpPr>
        <p:grpSpPr>
          <a:xfrm>
            <a:off x="887804" y="1553035"/>
            <a:ext cx="10165976" cy="4079352"/>
            <a:chOff x="430306" y="1954305"/>
            <a:chExt cx="11075545" cy="4079352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5D1D19A7-29A8-442D-B612-554C5A081F3A}"/>
                </a:ext>
              </a:extLst>
            </p:cNvPr>
            <p:cNvSpPr/>
            <p:nvPr/>
          </p:nvSpPr>
          <p:spPr>
            <a:xfrm>
              <a:off x="1709492" y="2696712"/>
              <a:ext cx="1932245" cy="4128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Requirements Analysis</a:t>
              </a:r>
              <a:endParaRPr lang="ko-KR" altLang="en-US" sz="16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79F70F5-4225-43BF-BA2A-D4046DA4048D}"/>
                </a:ext>
              </a:extLst>
            </p:cNvPr>
            <p:cNvSpPr/>
            <p:nvPr/>
          </p:nvSpPr>
          <p:spPr>
            <a:xfrm>
              <a:off x="3177637" y="3356751"/>
              <a:ext cx="1932245" cy="4128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Architectural Design</a:t>
              </a:r>
              <a:endParaRPr lang="ko-KR" altLang="en-US" sz="16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922F9D46-04A4-467E-A7C6-C73F71802126}"/>
                </a:ext>
              </a:extLst>
            </p:cNvPr>
            <p:cNvSpPr/>
            <p:nvPr/>
          </p:nvSpPr>
          <p:spPr>
            <a:xfrm>
              <a:off x="4344872" y="3935242"/>
              <a:ext cx="6502421" cy="4128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Stage 1: Detailed design, code, debug, test, and delivery</a:t>
              </a:r>
              <a:endParaRPr lang="ko-KR" altLang="en-US" sz="16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7DDC73B4-34CF-4FCB-AAEC-3FBA0D508660}"/>
                </a:ext>
              </a:extLst>
            </p:cNvPr>
            <p:cNvSpPr/>
            <p:nvPr/>
          </p:nvSpPr>
          <p:spPr>
            <a:xfrm>
              <a:off x="4676566" y="4778028"/>
              <a:ext cx="6502421" cy="4128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Stage 2: Detailed design, code, debug, test, and delivery</a:t>
              </a:r>
              <a:endParaRPr lang="ko-KR" altLang="en-US" sz="16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391DAFE-AA79-4337-AE3D-C588D618BA30}"/>
                </a:ext>
              </a:extLst>
            </p:cNvPr>
            <p:cNvSpPr/>
            <p:nvPr/>
          </p:nvSpPr>
          <p:spPr>
            <a:xfrm>
              <a:off x="5003430" y="5620814"/>
              <a:ext cx="6502421" cy="4128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Stage n: Detailed design, code, debug, test, and delivery</a:t>
              </a:r>
              <a:endParaRPr lang="ko-KR" altLang="en-US" sz="1600" dirty="0"/>
            </a:p>
          </p:txBody>
        </p:sp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9EA05B69-F3ED-4DD8-A44B-EB048D6D114E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>
              <a:off x="3641737" y="2903134"/>
              <a:ext cx="502023" cy="45361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1456DC13-F801-4310-AE59-014337024143}"/>
                </a:ext>
              </a:extLst>
            </p:cNvPr>
            <p:cNvCxnSpPr>
              <a:cxnSpLocks/>
              <a:stCxn id="8" idx="3"/>
              <a:endCxn id="10" idx="0"/>
            </p:cNvCxnSpPr>
            <p:nvPr/>
          </p:nvCxnSpPr>
          <p:spPr>
            <a:xfrm>
              <a:off x="5109882" y="3563173"/>
              <a:ext cx="2486201" cy="37206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536D97DA-26B4-4665-9382-E31915ADDFE5}"/>
                </a:ext>
              </a:extLst>
            </p:cNvPr>
            <p:cNvCxnSpPr>
              <a:cxnSpLocks/>
              <a:stCxn id="10" idx="1"/>
              <a:endCxn id="8" idx="2"/>
            </p:cNvCxnSpPr>
            <p:nvPr/>
          </p:nvCxnSpPr>
          <p:spPr>
            <a:xfrm rot="10800000">
              <a:off x="4143760" y="3769594"/>
              <a:ext cx="201112" cy="37207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3E93E5E0-1A37-46F5-9903-36D58B1AB41F}"/>
                </a:ext>
              </a:extLst>
            </p:cNvPr>
            <p:cNvCxnSpPr>
              <a:cxnSpLocks/>
              <a:stCxn id="8" idx="1"/>
              <a:endCxn id="6" idx="2"/>
            </p:cNvCxnSpPr>
            <p:nvPr/>
          </p:nvCxnSpPr>
          <p:spPr>
            <a:xfrm rot="10800000">
              <a:off x="2675615" y="3109555"/>
              <a:ext cx="502022" cy="45361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D7EE1A5-4AD7-4520-B32A-542EC9454EC1}"/>
                </a:ext>
              </a:extLst>
            </p:cNvPr>
            <p:cNvSpPr/>
            <p:nvPr/>
          </p:nvSpPr>
          <p:spPr>
            <a:xfrm>
              <a:off x="430306" y="1954305"/>
              <a:ext cx="1932245" cy="4128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Software Concept</a:t>
              </a:r>
              <a:endParaRPr lang="ko-KR" altLang="en-US" sz="1600" dirty="0"/>
            </a:p>
          </p:txBody>
        </p: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EFD82030-D326-4E7D-90AD-A218D9BFDA00}"/>
                </a:ext>
              </a:extLst>
            </p:cNvPr>
            <p:cNvCxnSpPr>
              <a:cxnSpLocks/>
              <a:stCxn id="32" idx="3"/>
              <a:endCxn id="6" idx="0"/>
            </p:cNvCxnSpPr>
            <p:nvPr/>
          </p:nvCxnSpPr>
          <p:spPr>
            <a:xfrm>
              <a:off x="2362551" y="2160727"/>
              <a:ext cx="313064" cy="53598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연결선: 꺾임 45">
              <a:extLst>
                <a:ext uri="{FF2B5EF4-FFF2-40B4-BE49-F238E27FC236}">
                  <a16:creationId xmlns:a16="http://schemas.microsoft.com/office/drawing/2014/main" id="{27183B66-460A-4D70-8CCA-4F9E54A2E94A}"/>
                </a:ext>
              </a:extLst>
            </p:cNvPr>
            <p:cNvCxnSpPr>
              <a:cxnSpLocks/>
              <a:stCxn id="6" idx="1"/>
              <a:endCxn id="32" idx="2"/>
            </p:cNvCxnSpPr>
            <p:nvPr/>
          </p:nvCxnSpPr>
          <p:spPr>
            <a:xfrm rot="10800000">
              <a:off x="1396430" y="2367148"/>
              <a:ext cx="313063" cy="53598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D594D9A2-2482-4FAA-B651-4D3D7AA0881D}"/>
                </a:ext>
              </a:extLst>
            </p:cNvPr>
            <p:cNvCxnSpPr>
              <a:cxnSpLocks/>
            </p:cNvCxnSpPr>
            <p:nvPr/>
          </p:nvCxnSpPr>
          <p:spPr>
            <a:xfrm>
              <a:off x="7751460" y="4348085"/>
              <a:ext cx="0" cy="429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4BE5D7AF-C64A-4589-8305-391DBB2D9CD9}"/>
                </a:ext>
              </a:extLst>
            </p:cNvPr>
            <p:cNvCxnSpPr/>
            <p:nvPr/>
          </p:nvCxnSpPr>
          <p:spPr>
            <a:xfrm>
              <a:off x="7927776" y="5190871"/>
              <a:ext cx="0" cy="42994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57ACE941-F3EA-4278-AE71-8FB847B84B73}"/>
                </a:ext>
              </a:extLst>
            </p:cNvPr>
            <p:cNvCxnSpPr>
              <a:cxnSpLocks/>
            </p:cNvCxnSpPr>
            <p:nvPr/>
          </p:nvCxnSpPr>
          <p:spPr>
            <a:xfrm>
              <a:off x="7927776" y="5190871"/>
              <a:ext cx="0" cy="2235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A03DAEB9-EB1A-44BC-A3EC-B68366A1B3DE}"/>
              </a:ext>
            </a:extLst>
          </p:cNvPr>
          <p:cNvSpPr txBox="1"/>
          <p:nvPr/>
        </p:nvSpPr>
        <p:spPr>
          <a:xfrm>
            <a:off x="525035" y="5893918"/>
            <a:ext cx="4163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Source: Rapid</a:t>
            </a:r>
            <a:r>
              <a:rPr lang="ko-KR" altLang="en-US" sz="1600" dirty="0"/>
              <a:t> </a:t>
            </a:r>
            <a:r>
              <a:rPr lang="en-US" altLang="ko-KR" sz="1600" dirty="0"/>
              <a:t>development</a:t>
            </a:r>
            <a:r>
              <a:rPr lang="ko-KR" altLang="en-US" sz="1600" dirty="0"/>
              <a:t> </a:t>
            </a:r>
            <a:r>
              <a:rPr lang="en-US" altLang="ko-KR" sz="1600" dirty="0"/>
              <a:t>by</a:t>
            </a:r>
            <a:r>
              <a:rPr lang="ko-KR" altLang="en-US" sz="1600" dirty="0"/>
              <a:t> </a:t>
            </a:r>
            <a:r>
              <a:rPr lang="en-US" altLang="ko-KR" sz="1600" dirty="0"/>
              <a:t>Steve</a:t>
            </a:r>
            <a:r>
              <a:rPr lang="ko-KR" altLang="en-US" sz="1600" dirty="0"/>
              <a:t> </a:t>
            </a:r>
            <a:r>
              <a:rPr lang="en-US" altLang="ko-KR" sz="1600" dirty="0"/>
              <a:t>McConnell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1170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1EA77-2CE7-4853-A810-AA76F6CB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참고</a:t>
            </a:r>
            <a:r>
              <a:rPr lang="en-US" altLang="ko-KR" dirty="0"/>
              <a:t>. Waterfall with evolutionary development cycle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529286A-15EC-D1B0-FD59-0821934F9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90E2EB-AD29-43D3-824B-76DC3429A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D1D19A7-29A8-442D-B612-554C5A081F3A}"/>
              </a:ext>
            </a:extLst>
          </p:cNvPr>
          <p:cNvSpPr/>
          <p:nvPr/>
        </p:nvSpPr>
        <p:spPr>
          <a:xfrm>
            <a:off x="1070103" y="1836360"/>
            <a:ext cx="2366683" cy="4840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Requirements Analysis with Prototyping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79F70F5-4225-43BF-BA2A-D4046DA4048D}"/>
              </a:ext>
            </a:extLst>
          </p:cNvPr>
          <p:cNvSpPr/>
          <p:nvPr/>
        </p:nvSpPr>
        <p:spPr>
          <a:xfrm>
            <a:off x="2513419" y="2424968"/>
            <a:ext cx="2061883" cy="4840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Architectural Design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22F9D46-04A4-467E-A7C6-C73F71802126}"/>
              </a:ext>
            </a:extLst>
          </p:cNvPr>
          <p:cNvSpPr/>
          <p:nvPr/>
        </p:nvSpPr>
        <p:spPr>
          <a:xfrm>
            <a:off x="3651940" y="3016304"/>
            <a:ext cx="4464422" cy="13868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6888B74-A08A-40BD-BBC6-0FCF499AE712}"/>
              </a:ext>
            </a:extLst>
          </p:cNvPr>
          <p:cNvSpPr/>
          <p:nvPr/>
        </p:nvSpPr>
        <p:spPr>
          <a:xfrm>
            <a:off x="7452974" y="4538046"/>
            <a:ext cx="2061883" cy="4840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Integration and System Testing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13FE56A-AFD7-471E-A77F-414AEB810A0D}"/>
              </a:ext>
            </a:extLst>
          </p:cNvPr>
          <p:cNvSpPr/>
          <p:nvPr/>
        </p:nvSpPr>
        <p:spPr>
          <a:xfrm>
            <a:off x="8923186" y="5123290"/>
            <a:ext cx="2061883" cy="4840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Delivery</a:t>
            </a:r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D3E701A-0ED9-486D-9E45-EA5F8FFB6BE3}"/>
              </a:ext>
            </a:extLst>
          </p:cNvPr>
          <p:cNvSpPr/>
          <p:nvPr/>
        </p:nvSpPr>
        <p:spPr>
          <a:xfrm>
            <a:off x="3750551" y="3413240"/>
            <a:ext cx="3478306" cy="2771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Cycle 1: Detailed design, code, test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3855B87-AEBB-4162-8E50-BD5A6423D5DA}"/>
              </a:ext>
            </a:extLst>
          </p:cNvPr>
          <p:cNvSpPr/>
          <p:nvPr/>
        </p:nvSpPr>
        <p:spPr>
          <a:xfrm>
            <a:off x="4144998" y="3773237"/>
            <a:ext cx="3478306" cy="2771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Cycle 2: Detailed design, code, test</a:t>
            </a:r>
            <a:endParaRPr lang="ko-KR" altLang="en-US" sz="14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94FF41E-9BD1-4ACC-AA2B-F5C8C2EC535F}"/>
              </a:ext>
            </a:extLst>
          </p:cNvPr>
          <p:cNvSpPr/>
          <p:nvPr/>
        </p:nvSpPr>
        <p:spPr>
          <a:xfrm>
            <a:off x="4476693" y="4102118"/>
            <a:ext cx="3478306" cy="2771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Cycle N: Detailed design, code, test</a:t>
            </a:r>
            <a:endParaRPr lang="ko-KR" altLang="en-US" sz="1400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4BD02176-3788-44FB-A65C-59D241044818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4575302" y="2667015"/>
            <a:ext cx="1308849" cy="3492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BB49B41E-8A0F-4B38-9F12-10304374074D}"/>
              </a:ext>
            </a:extLst>
          </p:cNvPr>
          <p:cNvCxnSpPr>
            <a:cxnSpLocks/>
            <a:stCxn id="10" idx="3"/>
            <a:endCxn id="12" idx="0"/>
          </p:cNvCxnSpPr>
          <p:nvPr/>
        </p:nvCxnSpPr>
        <p:spPr>
          <a:xfrm>
            <a:off x="8116362" y="3709707"/>
            <a:ext cx="367554" cy="8283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6D74C0AF-77C6-48DE-ADEB-B83983C71840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3436786" y="2078407"/>
            <a:ext cx="107575" cy="3465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ACB798C6-5F87-4610-ACBA-F920B5683338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>
            <a:off x="9514857" y="4780093"/>
            <a:ext cx="439271" cy="3431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A09223B-BAC7-4917-A0DA-1AF359CF7462}"/>
              </a:ext>
            </a:extLst>
          </p:cNvPr>
          <p:cNvSpPr txBox="1"/>
          <p:nvPr/>
        </p:nvSpPr>
        <p:spPr>
          <a:xfrm>
            <a:off x="2854080" y="29616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Evolutionary Dev. Cycle</a:t>
            </a:r>
            <a:endParaRPr lang="ko-KR" altLang="en-US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A271ED41-B88A-491F-A4E6-57CD732FB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857" y="3553829"/>
            <a:ext cx="224117" cy="256409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D663B1C1-3961-42FE-8327-C8E5773A1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231" y="3885522"/>
            <a:ext cx="224117" cy="25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5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07881-F0B4-4D6C-ADE0-6B79FD05C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표준 </a:t>
            </a:r>
            <a:r>
              <a:rPr lang="en-US" altLang="ko-KR" dirty="0"/>
              <a:t>WBS</a:t>
            </a:r>
            <a:r>
              <a:rPr lang="ko-KR" altLang="en-US" dirty="0"/>
              <a:t>를 활용하여 초기 </a:t>
            </a:r>
            <a:r>
              <a:rPr lang="en-US" altLang="ko-KR" dirty="0"/>
              <a:t>WBS </a:t>
            </a:r>
            <a:r>
              <a:rPr lang="ko-KR" altLang="en-US" dirty="0"/>
              <a:t>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30336E-F9DF-49D8-BC7C-0537F41E5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WBS </a:t>
            </a:r>
            <a:r>
              <a:rPr lang="ko-KR" altLang="en-US" dirty="0"/>
              <a:t>레벨</a:t>
            </a:r>
            <a:r>
              <a:rPr lang="en-US" altLang="ko-KR" dirty="0"/>
              <a:t>, Task Name, Deliverables </a:t>
            </a:r>
            <a:r>
              <a:rPr lang="ko-KR" altLang="en-US" dirty="0"/>
              <a:t>을 정의함 </a:t>
            </a:r>
            <a:r>
              <a:rPr lang="en-GB" altLang="ko-KR" dirty="0"/>
              <a:t>(</a:t>
            </a:r>
            <a:r>
              <a:rPr lang="ko-KR" altLang="en-US" dirty="0"/>
              <a:t>마일스톤은 추후 작성 예정</a:t>
            </a:r>
            <a:r>
              <a:rPr lang="en-GB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05B29F-52C3-401F-9456-8A8263D56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CB06F-D241-4232-8FD4-D363D9441FD2}"/>
              </a:ext>
            </a:extLst>
          </p:cNvPr>
          <p:cNvSpPr txBox="1"/>
          <p:nvPr/>
        </p:nvSpPr>
        <p:spPr>
          <a:xfrm>
            <a:off x="677465" y="3125337"/>
            <a:ext cx="3646341" cy="3264908"/>
          </a:xfrm>
          <a:custGeom>
            <a:avLst/>
            <a:gdLst>
              <a:gd name="connsiteX0" fmla="*/ 0 w 3646341"/>
              <a:gd name="connsiteY0" fmla="*/ 0 h 3264908"/>
              <a:gd name="connsiteX1" fmla="*/ 484442 w 3646341"/>
              <a:gd name="connsiteY1" fmla="*/ 0 h 3264908"/>
              <a:gd name="connsiteX2" fmla="*/ 932421 w 3646341"/>
              <a:gd name="connsiteY2" fmla="*/ 0 h 3264908"/>
              <a:gd name="connsiteX3" fmla="*/ 1380401 w 3646341"/>
              <a:gd name="connsiteY3" fmla="*/ 0 h 3264908"/>
              <a:gd name="connsiteX4" fmla="*/ 1864843 w 3646341"/>
              <a:gd name="connsiteY4" fmla="*/ 0 h 3264908"/>
              <a:gd name="connsiteX5" fmla="*/ 2312822 w 3646341"/>
              <a:gd name="connsiteY5" fmla="*/ 0 h 3264908"/>
              <a:gd name="connsiteX6" fmla="*/ 2906655 w 3646341"/>
              <a:gd name="connsiteY6" fmla="*/ 0 h 3264908"/>
              <a:gd name="connsiteX7" fmla="*/ 3646341 w 3646341"/>
              <a:gd name="connsiteY7" fmla="*/ 0 h 3264908"/>
              <a:gd name="connsiteX8" fmla="*/ 3646341 w 3646341"/>
              <a:gd name="connsiteY8" fmla="*/ 478853 h 3264908"/>
              <a:gd name="connsiteX9" fmla="*/ 3646341 w 3646341"/>
              <a:gd name="connsiteY9" fmla="*/ 1055654 h 3264908"/>
              <a:gd name="connsiteX10" fmla="*/ 3646341 w 3646341"/>
              <a:gd name="connsiteY10" fmla="*/ 1534507 h 3264908"/>
              <a:gd name="connsiteX11" fmla="*/ 3646341 w 3646341"/>
              <a:gd name="connsiteY11" fmla="*/ 2078658 h 3264908"/>
              <a:gd name="connsiteX12" fmla="*/ 3646341 w 3646341"/>
              <a:gd name="connsiteY12" fmla="*/ 2590160 h 3264908"/>
              <a:gd name="connsiteX13" fmla="*/ 3646341 w 3646341"/>
              <a:gd name="connsiteY13" fmla="*/ 3264908 h 3264908"/>
              <a:gd name="connsiteX14" fmla="*/ 3052508 w 3646341"/>
              <a:gd name="connsiteY14" fmla="*/ 3264908 h 3264908"/>
              <a:gd name="connsiteX15" fmla="*/ 2568066 w 3646341"/>
              <a:gd name="connsiteY15" fmla="*/ 3264908 h 3264908"/>
              <a:gd name="connsiteX16" fmla="*/ 2010697 w 3646341"/>
              <a:gd name="connsiteY16" fmla="*/ 3264908 h 3264908"/>
              <a:gd name="connsiteX17" fmla="*/ 1453327 w 3646341"/>
              <a:gd name="connsiteY17" fmla="*/ 3264908 h 3264908"/>
              <a:gd name="connsiteX18" fmla="*/ 968885 w 3646341"/>
              <a:gd name="connsiteY18" fmla="*/ 3264908 h 3264908"/>
              <a:gd name="connsiteX19" fmla="*/ 0 w 3646341"/>
              <a:gd name="connsiteY19" fmla="*/ 3264908 h 3264908"/>
              <a:gd name="connsiteX20" fmla="*/ 0 w 3646341"/>
              <a:gd name="connsiteY20" fmla="*/ 2720757 h 3264908"/>
              <a:gd name="connsiteX21" fmla="*/ 0 w 3646341"/>
              <a:gd name="connsiteY21" fmla="*/ 2111307 h 3264908"/>
              <a:gd name="connsiteX22" fmla="*/ 0 w 3646341"/>
              <a:gd name="connsiteY22" fmla="*/ 1632454 h 3264908"/>
              <a:gd name="connsiteX23" fmla="*/ 0 w 3646341"/>
              <a:gd name="connsiteY23" fmla="*/ 1055654 h 3264908"/>
              <a:gd name="connsiteX24" fmla="*/ 0 w 3646341"/>
              <a:gd name="connsiteY24" fmla="*/ 576800 h 3264908"/>
              <a:gd name="connsiteX25" fmla="*/ 0 w 3646341"/>
              <a:gd name="connsiteY25" fmla="*/ 0 h 326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646341" h="3264908" extrusionOk="0">
                <a:moveTo>
                  <a:pt x="0" y="0"/>
                </a:moveTo>
                <a:cubicBezTo>
                  <a:pt x="232065" y="-42095"/>
                  <a:pt x="312772" y="37611"/>
                  <a:pt x="484442" y="0"/>
                </a:cubicBezTo>
                <a:cubicBezTo>
                  <a:pt x="656112" y="-37611"/>
                  <a:pt x="713245" y="4814"/>
                  <a:pt x="932421" y="0"/>
                </a:cubicBezTo>
                <a:cubicBezTo>
                  <a:pt x="1151597" y="-4814"/>
                  <a:pt x="1195733" y="40924"/>
                  <a:pt x="1380401" y="0"/>
                </a:cubicBezTo>
                <a:cubicBezTo>
                  <a:pt x="1565069" y="-40924"/>
                  <a:pt x="1761668" y="39618"/>
                  <a:pt x="1864843" y="0"/>
                </a:cubicBezTo>
                <a:cubicBezTo>
                  <a:pt x="1968018" y="-39618"/>
                  <a:pt x="2161256" y="42107"/>
                  <a:pt x="2312822" y="0"/>
                </a:cubicBezTo>
                <a:cubicBezTo>
                  <a:pt x="2464388" y="-42107"/>
                  <a:pt x="2770706" y="15920"/>
                  <a:pt x="2906655" y="0"/>
                </a:cubicBezTo>
                <a:cubicBezTo>
                  <a:pt x="3042604" y="-15920"/>
                  <a:pt x="3298538" y="54031"/>
                  <a:pt x="3646341" y="0"/>
                </a:cubicBezTo>
                <a:cubicBezTo>
                  <a:pt x="3703738" y="108154"/>
                  <a:pt x="3618781" y="296685"/>
                  <a:pt x="3646341" y="478853"/>
                </a:cubicBezTo>
                <a:cubicBezTo>
                  <a:pt x="3673901" y="661021"/>
                  <a:pt x="3605126" y="792534"/>
                  <a:pt x="3646341" y="1055654"/>
                </a:cubicBezTo>
                <a:cubicBezTo>
                  <a:pt x="3687556" y="1318774"/>
                  <a:pt x="3641368" y="1301687"/>
                  <a:pt x="3646341" y="1534507"/>
                </a:cubicBezTo>
                <a:cubicBezTo>
                  <a:pt x="3651314" y="1767327"/>
                  <a:pt x="3586359" y="1946214"/>
                  <a:pt x="3646341" y="2078658"/>
                </a:cubicBezTo>
                <a:cubicBezTo>
                  <a:pt x="3706323" y="2211102"/>
                  <a:pt x="3606252" y="2479933"/>
                  <a:pt x="3646341" y="2590160"/>
                </a:cubicBezTo>
                <a:cubicBezTo>
                  <a:pt x="3686430" y="2700387"/>
                  <a:pt x="3626664" y="3061237"/>
                  <a:pt x="3646341" y="3264908"/>
                </a:cubicBezTo>
                <a:cubicBezTo>
                  <a:pt x="3457504" y="3291969"/>
                  <a:pt x="3277762" y="3264558"/>
                  <a:pt x="3052508" y="3264908"/>
                </a:cubicBezTo>
                <a:cubicBezTo>
                  <a:pt x="2827254" y="3265258"/>
                  <a:pt x="2808417" y="3210941"/>
                  <a:pt x="2568066" y="3264908"/>
                </a:cubicBezTo>
                <a:cubicBezTo>
                  <a:pt x="2327715" y="3318875"/>
                  <a:pt x="2144209" y="3241036"/>
                  <a:pt x="2010697" y="3264908"/>
                </a:cubicBezTo>
                <a:cubicBezTo>
                  <a:pt x="1877185" y="3288780"/>
                  <a:pt x="1720503" y="3229411"/>
                  <a:pt x="1453327" y="3264908"/>
                </a:cubicBezTo>
                <a:cubicBezTo>
                  <a:pt x="1186151" y="3300405"/>
                  <a:pt x="1096162" y="3253667"/>
                  <a:pt x="968885" y="3264908"/>
                </a:cubicBezTo>
                <a:cubicBezTo>
                  <a:pt x="841608" y="3276149"/>
                  <a:pt x="247759" y="3252516"/>
                  <a:pt x="0" y="3264908"/>
                </a:cubicBezTo>
                <a:cubicBezTo>
                  <a:pt x="-5093" y="3089921"/>
                  <a:pt x="11713" y="2857626"/>
                  <a:pt x="0" y="2720757"/>
                </a:cubicBezTo>
                <a:cubicBezTo>
                  <a:pt x="-11713" y="2583888"/>
                  <a:pt x="38004" y="2347278"/>
                  <a:pt x="0" y="2111307"/>
                </a:cubicBezTo>
                <a:cubicBezTo>
                  <a:pt x="-38004" y="1875336"/>
                  <a:pt x="54776" y="1869547"/>
                  <a:pt x="0" y="1632454"/>
                </a:cubicBezTo>
                <a:cubicBezTo>
                  <a:pt x="-54776" y="1395361"/>
                  <a:pt x="48597" y="1302111"/>
                  <a:pt x="0" y="1055654"/>
                </a:cubicBezTo>
                <a:cubicBezTo>
                  <a:pt x="-48597" y="809197"/>
                  <a:pt x="48689" y="719160"/>
                  <a:pt x="0" y="576800"/>
                </a:cubicBezTo>
                <a:cubicBezTo>
                  <a:pt x="-48689" y="434440"/>
                  <a:pt x="14892" y="173593"/>
                  <a:pt x="0" y="0"/>
                </a:cubicBezTo>
                <a:close/>
              </a:path>
            </a:pathLst>
          </a:custGeom>
          <a:noFill/>
          <a:ln w="28575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4085342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noAutofit/>
          </a:bodyPr>
          <a:lstStyle/>
          <a:p>
            <a:pPr algn="l"/>
            <a:endParaRPr lang="ko-KR" altLang="en-US" sz="1800" b="0" i="0" u="none" strike="noStrike" baseline="0" dirty="0">
              <a:latin typeface="SandJ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B1F0E-6E51-468A-BFA2-4784FEA65F48}"/>
              </a:ext>
            </a:extLst>
          </p:cNvPr>
          <p:cNvSpPr txBox="1"/>
          <p:nvPr/>
        </p:nvSpPr>
        <p:spPr>
          <a:xfrm>
            <a:off x="10175966" y="3125337"/>
            <a:ext cx="1499303" cy="3204651"/>
          </a:xfrm>
          <a:custGeom>
            <a:avLst/>
            <a:gdLst>
              <a:gd name="connsiteX0" fmla="*/ 0 w 1499303"/>
              <a:gd name="connsiteY0" fmla="*/ 0 h 3204651"/>
              <a:gd name="connsiteX1" fmla="*/ 484775 w 1499303"/>
              <a:gd name="connsiteY1" fmla="*/ 0 h 3204651"/>
              <a:gd name="connsiteX2" fmla="*/ 954556 w 1499303"/>
              <a:gd name="connsiteY2" fmla="*/ 0 h 3204651"/>
              <a:gd name="connsiteX3" fmla="*/ 1499303 w 1499303"/>
              <a:gd name="connsiteY3" fmla="*/ 0 h 3204651"/>
              <a:gd name="connsiteX4" fmla="*/ 1499303 w 1499303"/>
              <a:gd name="connsiteY4" fmla="*/ 502062 h 3204651"/>
              <a:gd name="connsiteX5" fmla="*/ 1499303 w 1499303"/>
              <a:gd name="connsiteY5" fmla="*/ 940031 h 3204651"/>
              <a:gd name="connsiteX6" fmla="*/ 1499303 w 1499303"/>
              <a:gd name="connsiteY6" fmla="*/ 1506186 h 3204651"/>
              <a:gd name="connsiteX7" fmla="*/ 1499303 w 1499303"/>
              <a:gd name="connsiteY7" fmla="*/ 1976201 h 3204651"/>
              <a:gd name="connsiteX8" fmla="*/ 1499303 w 1499303"/>
              <a:gd name="connsiteY8" fmla="*/ 2414170 h 3204651"/>
              <a:gd name="connsiteX9" fmla="*/ 1499303 w 1499303"/>
              <a:gd name="connsiteY9" fmla="*/ 3204651 h 3204651"/>
              <a:gd name="connsiteX10" fmla="*/ 1029521 w 1499303"/>
              <a:gd name="connsiteY10" fmla="*/ 3204651 h 3204651"/>
              <a:gd name="connsiteX11" fmla="*/ 559740 w 1499303"/>
              <a:gd name="connsiteY11" fmla="*/ 3204651 h 3204651"/>
              <a:gd name="connsiteX12" fmla="*/ 0 w 1499303"/>
              <a:gd name="connsiteY12" fmla="*/ 3204651 h 3204651"/>
              <a:gd name="connsiteX13" fmla="*/ 0 w 1499303"/>
              <a:gd name="connsiteY13" fmla="*/ 2638496 h 3204651"/>
              <a:gd name="connsiteX14" fmla="*/ 0 w 1499303"/>
              <a:gd name="connsiteY14" fmla="*/ 2168481 h 3204651"/>
              <a:gd name="connsiteX15" fmla="*/ 0 w 1499303"/>
              <a:gd name="connsiteY15" fmla="*/ 1666419 h 3204651"/>
              <a:gd name="connsiteX16" fmla="*/ 0 w 1499303"/>
              <a:gd name="connsiteY16" fmla="*/ 1132310 h 3204651"/>
              <a:gd name="connsiteX17" fmla="*/ 0 w 1499303"/>
              <a:gd name="connsiteY17" fmla="*/ 662295 h 3204651"/>
              <a:gd name="connsiteX18" fmla="*/ 0 w 1499303"/>
              <a:gd name="connsiteY18" fmla="*/ 0 h 320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9303" h="3204651" extrusionOk="0">
                <a:moveTo>
                  <a:pt x="0" y="0"/>
                </a:moveTo>
                <a:cubicBezTo>
                  <a:pt x="221829" y="-16213"/>
                  <a:pt x="247249" y="10625"/>
                  <a:pt x="484775" y="0"/>
                </a:cubicBezTo>
                <a:cubicBezTo>
                  <a:pt x="722301" y="-10625"/>
                  <a:pt x="748776" y="12282"/>
                  <a:pt x="954556" y="0"/>
                </a:cubicBezTo>
                <a:cubicBezTo>
                  <a:pt x="1160336" y="-12282"/>
                  <a:pt x="1384270" y="30486"/>
                  <a:pt x="1499303" y="0"/>
                </a:cubicBezTo>
                <a:cubicBezTo>
                  <a:pt x="1546393" y="224774"/>
                  <a:pt x="1457911" y="315580"/>
                  <a:pt x="1499303" y="502062"/>
                </a:cubicBezTo>
                <a:cubicBezTo>
                  <a:pt x="1540695" y="688544"/>
                  <a:pt x="1495783" y="852133"/>
                  <a:pt x="1499303" y="940031"/>
                </a:cubicBezTo>
                <a:cubicBezTo>
                  <a:pt x="1502823" y="1027929"/>
                  <a:pt x="1459667" y="1280228"/>
                  <a:pt x="1499303" y="1506186"/>
                </a:cubicBezTo>
                <a:cubicBezTo>
                  <a:pt x="1538939" y="1732145"/>
                  <a:pt x="1467511" y="1833246"/>
                  <a:pt x="1499303" y="1976201"/>
                </a:cubicBezTo>
                <a:cubicBezTo>
                  <a:pt x="1531095" y="2119157"/>
                  <a:pt x="1464446" y="2304459"/>
                  <a:pt x="1499303" y="2414170"/>
                </a:cubicBezTo>
                <a:cubicBezTo>
                  <a:pt x="1534160" y="2523881"/>
                  <a:pt x="1480387" y="2831531"/>
                  <a:pt x="1499303" y="3204651"/>
                </a:cubicBezTo>
                <a:cubicBezTo>
                  <a:pt x="1383935" y="3242906"/>
                  <a:pt x="1244253" y="3187543"/>
                  <a:pt x="1029521" y="3204651"/>
                </a:cubicBezTo>
                <a:cubicBezTo>
                  <a:pt x="814789" y="3221759"/>
                  <a:pt x="787926" y="3172208"/>
                  <a:pt x="559740" y="3204651"/>
                </a:cubicBezTo>
                <a:cubicBezTo>
                  <a:pt x="331554" y="3237094"/>
                  <a:pt x="260047" y="3138834"/>
                  <a:pt x="0" y="3204651"/>
                </a:cubicBezTo>
                <a:cubicBezTo>
                  <a:pt x="-22034" y="3063522"/>
                  <a:pt x="57156" y="2835726"/>
                  <a:pt x="0" y="2638496"/>
                </a:cubicBezTo>
                <a:cubicBezTo>
                  <a:pt x="-57156" y="2441267"/>
                  <a:pt x="5167" y="2384770"/>
                  <a:pt x="0" y="2168481"/>
                </a:cubicBezTo>
                <a:cubicBezTo>
                  <a:pt x="-5167" y="1952193"/>
                  <a:pt x="14646" y="1814270"/>
                  <a:pt x="0" y="1666419"/>
                </a:cubicBezTo>
                <a:cubicBezTo>
                  <a:pt x="-14646" y="1518568"/>
                  <a:pt x="41918" y="1341019"/>
                  <a:pt x="0" y="1132310"/>
                </a:cubicBezTo>
                <a:cubicBezTo>
                  <a:pt x="-41918" y="923601"/>
                  <a:pt x="40223" y="771643"/>
                  <a:pt x="0" y="662295"/>
                </a:cubicBezTo>
                <a:cubicBezTo>
                  <a:pt x="-40223" y="552948"/>
                  <a:pt x="29001" y="309282"/>
                  <a:pt x="0" y="0"/>
                </a:cubicBezTo>
                <a:close/>
              </a:path>
            </a:pathLst>
          </a:custGeom>
          <a:noFill/>
          <a:ln w="28575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4085342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noAutofit/>
          </a:bodyPr>
          <a:lstStyle/>
          <a:p>
            <a:pPr algn="l"/>
            <a:endParaRPr lang="ko-KR" altLang="en-US" sz="1800" b="0" i="0" u="none" strike="noStrike" baseline="0" dirty="0">
              <a:latin typeface="SandJg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3DF577-9A22-4826-9E30-7A6E52F8C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7" y="1773388"/>
            <a:ext cx="10815288" cy="460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85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3D3D6-6DF9-4006-B327-9F245ECDE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표준 </a:t>
            </a:r>
            <a:r>
              <a:rPr lang="en-US" altLang="ko-KR" dirty="0"/>
              <a:t>WBS</a:t>
            </a:r>
            <a:r>
              <a:rPr lang="ko-KR" altLang="en-US" dirty="0"/>
              <a:t>를 활용하여 초기 </a:t>
            </a:r>
            <a:r>
              <a:rPr lang="en-US" altLang="ko-KR" dirty="0"/>
              <a:t>WBS </a:t>
            </a:r>
            <a:r>
              <a:rPr lang="ko-KR" altLang="en-US" dirty="0"/>
              <a:t>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95DDD-2512-4C07-8279-5ACAE114E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(1)</a:t>
            </a:r>
            <a:r>
              <a:rPr lang="ko-KR" altLang="en-US" dirty="0"/>
              <a:t> </a:t>
            </a:r>
            <a:r>
              <a:rPr lang="en-US" altLang="ko-KR" dirty="0">
                <a:latin typeface="+mj-ea"/>
                <a:ea typeface="+mj-ea"/>
              </a:rPr>
              <a:t>Top Down</a:t>
            </a:r>
            <a:r>
              <a:rPr lang="ko-KR" altLang="en-US" dirty="0">
                <a:latin typeface="+mj-ea"/>
                <a:ea typeface="+mj-ea"/>
              </a:rPr>
              <a:t>방식으로 </a:t>
            </a:r>
            <a:r>
              <a:rPr lang="en-US" altLang="ko-KR" dirty="0">
                <a:latin typeface="+mj-ea"/>
                <a:ea typeface="+mj-ea"/>
              </a:rPr>
              <a:t>4-7</a:t>
            </a:r>
            <a:r>
              <a:rPr lang="ko-KR" altLang="en-US" dirty="0">
                <a:latin typeface="+mj-ea"/>
                <a:ea typeface="+mj-ea"/>
              </a:rPr>
              <a:t>개의 주요업무 또는 영역 도출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Level 2</a:t>
            </a:r>
            <a:r>
              <a:rPr lang="ko-KR" altLang="en-US" dirty="0"/>
              <a:t>를 정의</a:t>
            </a:r>
            <a:r>
              <a:rPr lang="en-US" altLang="ko-KR" dirty="0"/>
              <a:t>. (</a:t>
            </a:r>
            <a:r>
              <a:rPr lang="en-GB" altLang="ko-KR" dirty="0"/>
              <a:t>* Level 1</a:t>
            </a:r>
            <a:r>
              <a:rPr lang="ko-KR" altLang="en-US" dirty="0"/>
              <a:t>은 항상 전체 프로젝트임</a:t>
            </a:r>
            <a:r>
              <a:rPr lang="en-GB" altLang="ko-KR" dirty="0"/>
              <a:t>)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일반적으로 </a:t>
            </a:r>
            <a:r>
              <a:rPr lang="en-US" altLang="ko-KR" dirty="0"/>
              <a:t>Lifecycle phase </a:t>
            </a:r>
            <a:r>
              <a:rPr lang="ko-KR" altLang="en-US" dirty="0"/>
              <a:t>가 </a:t>
            </a:r>
            <a:r>
              <a:rPr lang="en-GB" altLang="ko-KR" dirty="0"/>
              <a:t>Level 2</a:t>
            </a:r>
            <a:r>
              <a:rPr lang="ko-KR" altLang="en-US" dirty="0"/>
              <a:t>가 될 수 있고</a:t>
            </a:r>
            <a:r>
              <a:rPr lang="en-GB" altLang="ko-KR" dirty="0"/>
              <a:t>, </a:t>
            </a:r>
            <a:br>
              <a:rPr lang="en-GB" altLang="ko-KR" dirty="0"/>
            </a:br>
            <a:r>
              <a:rPr lang="en-GB" altLang="ko-KR" dirty="0"/>
              <a:t>  </a:t>
            </a:r>
            <a:r>
              <a:rPr lang="ko-KR" altLang="en-US" dirty="0"/>
              <a:t>시스템 규모가 큰 경우는 전체 시스템의 하위 시스템을 </a:t>
            </a:r>
            <a:r>
              <a:rPr lang="en-GB" altLang="ko-KR" dirty="0"/>
              <a:t>Level 2</a:t>
            </a:r>
            <a:r>
              <a:rPr lang="ko-KR" altLang="en-US" dirty="0"/>
              <a:t>로 하고</a:t>
            </a:r>
            <a:r>
              <a:rPr lang="en-GB" altLang="ko-KR" dirty="0"/>
              <a:t>, Lifecycle phase</a:t>
            </a:r>
            <a:r>
              <a:rPr lang="ko-KR" altLang="en-US" dirty="0"/>
              <a:t>를 그 하위로 둠</a:t>
            </a:r>
            <a:r>
              <a:rPr lang="en-GB" altLang="ko-KR" dirty="0"/>
              <a:t>.</a:t>
            </a:r>
            <a:br>
              <a:rPr lang="en-GB" altLang="ko-KR" sz="2000" dirty="0"/>
            </a:br>
            <a:r>
              <a:rPr lang="en-GB" altLang="ko-KR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dirty="0"/>
              <a:t>(2) </a:t>
            </a:r>
            <a:r>
              <a:rPr lang="ko-KR" altLang="en-US" dirty="0"/>
              <a:t>주요 업무를 분해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선정한 </a:t>
            </a:r>
            <a:r>
              <a:rPr lang="en-US" altLang="ko-KR" dirty="0"/>
              <a:t>Lifecycle</a:t>
            </a:r>
            <a:r>
              <a:rPr lang="ko-KR" altLang="en-US" dirty="0"/>
              <a:t>과 표준 </a:t>
            </a:r>
            <a:r>
              <a:rPr lang="en-US" altLang="ko-KR" dirty="0"/>
              <a:t>WBS </a:t>
            </a:r>
            <a:r>
              <a:rPr lang="ko-KR" altLang="en-US" dirty="0"/>
              <a:t>항목을 기준으로 하위 레벨로 분해</a:t>
            </a:r>
            <a:br>
              <a:rPr lang="en-GB" altLang="ko-KR" dirty="0"/>
            </a:b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(3) </a:t>
            </a:r>
            <a:r>
              <a:rPr lang="ko-KR" altLang="en-US" dirty="0">
                <a:latin typeface="+mj-ea"/>
                <a:ea typeface="+mj-ea"/>
              </a:rPr>
              <a:t>분해된 항목별로 번호를 부여함 </a:t>
            </a:r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br>
              <a:rPr lang="en-US" altLang="ko-KR" sz="2800" dirty="0"/>
            </a:b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82FEE5-316C-47FE-B6A4-36395EA7B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5" name="Group 65">
            <a:extLst>
              <a:ext uri="{FF2B5EF4-FFF2-40B4-BE49-F238E27FC236}">
                <a16:creationId xmlns:a16="http://schemas.microsoft.com/office/drawing/2014/main" id="{7CBAB676-6D93-CE34-F680-08DF48AEF26F}"/>
              </a:ext>
            </a:extLst>
          </p:cNvPr>
          <p:cNvGrpSpPr>
            <a:grpSpLocks/>
          </p:cNvGrpSpPr>
          <p:nvPr/>
        </p:nvGrpSpPr>
        <p:grpSpPr bwMode="auto">
          <a:xfrm>
            <a:off x="9274892" y="3226765"/>
            <a:ext cx="2087303" cy="1360487"/>
            <a:chOff x="769" y="1297"/>
            <a:chExt cx="4174" cy="814"/>
          </a:xfrm>
        </p:grpSpPr>
        <p:sp>
          <p:nvSpPr>
            <p:cNvPr id="6" name="Rectangle 66">
              <a:extLst>
                <a:ext uri="{FF2B5EF4-FFF2-40B4-BE49-F238E27FC236}">
                  <a16:creationId xmlns:a16="http://schemas.microsoft.com/office/drawing/2014/main" id="{0ECF8CD6-EB16-F22D-9E79-D0BB5BC73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1297"/>
              <a:ext cx="1102" cy="286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" name="Rectangle 67">
              <a:extLst>
                <a:ext uri="{FF2B5EF4-FFF2-40B4-BE49-F238E27FC236}">
                  <a16:creationId xmlns:a16="http://schemas.microsoft.com/office/drawing/2014/main" id="{213E2646-F41A-9B6D-05E5-0E16F9E52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8" name="Rectangle 68">
              <a:extLst>
                <a:ext uri="{FF2B5EF4-FFF2-40B4-BE49-F238E27FC236}">
                  <a16:creationId xmlns:a16="http://schemas.microsoft.com/office/drawing/2014/main" id="{DB6A8ED3-8860-2D92-575F-5C953313C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9" name="Rectangle 69">
              <a:extLst>
                <a:ext uri="{FF2B5EF4-FFF2-40B4-BE49-F238E27FC236}">
                  <a16:creationId xmlns:a16="http://schemas.microsoft.com/office/drawing/2014/main" id="{A6C7EEF8-9BD9-C056-30A1-2561085E9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0" name="Rectangle 70">
              <a:extLst>
                <a:ext uri="{FF2B5EF4-FFF2-40B4-BE49-F238E27FC236}">
                  <a16:creationId xmlns:a16="http://schemas.microsoft.com/office/drawing/2014/main" id="{9EB230D2-1254-7B71-D081-01BF84C53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1" name="Line 71">
              <a:extLst>
                <a:ext uri="{FF2B5EF4-FFF2-40B4-BE49-F238E27FC236}">
                  <a16:creationId xmlns:a16="http://schemas.microsoft.com/office/drawing/2014/main" id="{198C8A47-6FAF-439A-E07E-5663617F3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" y="1728"/>
              <a:ext cx="34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2" name="Line 72">
              <a:extLst>
                <a:ext uri="{FF2B5EF4-FFF2-40B4-BE49-F238E27FC236}">
                  <a16:creationId xmlns:a16="http://schemas.microsoft.com/office/drawing/2014/main" id="{24540000-CA27-D212-8003-B7BAED67B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3" name="Line 73">
              <a:extLst>
                <a:ext uri="{FF2B5EF4-FFF2-40B4-BE49-F238E27FC236}">
                  <a16:creationId xmlns:a16="http://schemas.microsoft.com/office/drawing/2014/main" id="{A0A485E2-CD9B-9CD3-013A-A4A3CFFC6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87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4" name="Line 74">
              <a:extLst>
                <a:ext uri="{FF2B5EF4-FFF2-40B4-BE49-F238E27FC236}">
                  <a16:creationId xmlns:a16="http://schemas.microsoft.com/office/drawing/2014/main" id="{D377B802-E978-6D42-7F22-AFBE14D31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5" name="Line 75">
              <a:extLst>
                <a:ext uri="{FF2B5EF4-FFF2-40B4-BE49-F238E27FC236}">
                  <a16:creationId xmlns:a16="http://schemas.microsoft.com/office/drawing/2014/main" id="{32EB1897-221A-2847-F168-26BD3C5FDC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6" name="Line 76">
              <a:extLst>
                <a:ext uri="{FF2B5EF4-FFF2-40B4-BE49-F238E27FC236}">
                  <a16:creationId xmlns:a16="http://schemas.microsoft.com/office/drawing/2014/main" id="{0F79ACBF-3A29-5C19-F3EF-13CB3C526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B68C1BF9-6014-DABB-76D2-CDD49FFA7964}"/>
              </a:ext>
            </a:extLst>
          </p:cNvPr>
          <p:cNvGrpSpPr>
            <a:grpSpLocks/>
          </p:cNvGrpSpPr>
          <p:nvPr/>
        </p:nvGrpSpPr>
        <p:grpSpPr bwMode="auto">
          <a:xfrm>
            <a:off x="8584569" y="4617020"/>
            <a:ext cx="1745976" cy="858213"/>
            <a:chOff x="769" y="1587"/>
            <a:chExt cx="4174" cy="524"/>
          </a:xfrm>
        </p:grpSpPr>
        <p:sp>
          <p:nvSpPr>
            <p:cNvPr id="18" name="Rectangle 67">
              <a:extLst>
                <a:ext uri="{FF2B5EF4-FFF2-40B4-BE49-F238E27FC236}">
                  <a16:creationId xmlns:a16="http://schemas.microsoft.com/office/drawing/2014/main" id="{6E108F47-9D70-6441-D300-FBCE0CFBB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9" name="Rectangle 68">
              <a:extLst>
                <a:ext uri="{FF2B5EF4-FFF2-40B4-BE49-F238E27FC236}">
                  <a16:creationId xmlns:a16="http://schemas.microsoft.com/office/drawing/2014/main" id="{9723285A-0785-D753-FDFA-0FE57498C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0" name="Rectangle 69">
              <a:extLst>
                <a:ext uri="{FF2B5EF4-FFF2-40B4-BE49-F238E27FC236}">
                  <a16:creationId xmlns:a16="http://schemas.microsoft.com/office/drawing/2014/main" id="{1A68B829-30C9-A888-AABB-A40B8160C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1" name="Rectangle 70">
              <a:extLst>
                <a:ext uri="{FF2B5EF4-FFF2-40B4-BE49-F238E27FC236}">
                  <a16:creationId xmlns:a16="http://schemas.microsoft.com/office/drawing/2014/main" id="{19E7B9DF-2168-E02A-EEDA-188ABB087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2" name="Line 71">
              <a:extLst>
                <a:ext uri="{FF2B5EF4-FFF2-40B4-BE49-F238E27FC236}">
                  <a16:creationId xmlns:a16="http://schemas.microsoft.com/office/drawing/2014/main" id="{1DEBC947-FCAD-6C03-08AE-A096BD2E8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" y="1728"/>
              <a:ext cx="34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3" name="Line 72">
              <a:extLst>
                <a:ext uri="{FF2B5EF4-FFF2-40B4-BE49-F238E27FC236}">
                  <a16:creationId xmlns:a16="http://schemas.microsoft.com/office/drawing/2014/main" id="{825C5E39-F936-A64C-3B4E-0ECD010C6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4" name="Line 73">
              <a:extLst>
                <a:ext uri="{FF2B5EF4-FFF2-40B4-BE49-F238E27FC236}">
                  <a16:creationId xmlns:a16="http://schemas.microsoft.com/office/drawing/2014/main" id="{C8086784-A917-E1F4-6364-3D1455B7E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87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5" name="Line 74">
              <a:extLst>
                <a:ext uri="{FF2B5EF4-FFF2-40B4-BE49-F238E27FC236}">
                  <a16:creationId xmlns:a16="http://schemas.microsoft.com/office/drawing/2014/main" id="{0828CA60-8263-8519-A244-6ABCFA96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6" name="Line 75">
              <a:extLst>
                <a:ext uri="{FF2B5EF4-FFF2-40B4-BE49-F238E27FC236}">
                  <a16:creationId xmlns:a16="http://schemas.microsoft.com/office/drawing/2014/main" id="{B4323B25-0BFE-BD8C-6799-517EEAD798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7" name="Line 76">
              <a:extLst>
                <a:ext uri="{FF2B5EF4-FFF2-40B4-BE49-F238E27FC236}">
                  <a16:creationId xmlns:a16="http://schemas.microsoft.com/office/drawing/2014/main" id="{DB3F925F-2840-B3FD-3602-26D470149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28" name="Group 65">
            <a:extLst>
              <a:ext uri="{FF2B5EF4-FFF2-40B4-BE49-F238E27FC236}">
                <a16:creationId xmlns:a16="http://schemas.microsoft.com/office/drawing/2014/main" id="{219FD1F1-74DD-2EBE-123A-7B2E6CE25C63}"/>
              </a:ext>
            </a:extLst>
          </p:cNvPr>
          <p:cNvGrpSpPr>
            <a:grpSpLocks/>
          </p:cNvGrpSpPr>
          <p:nvPr/>
        </p:nvGrpSpPr>
        <p:grpSpPr bwMode="auto">
          <a:xfrm>
            <a:off x="9317427" y="5523542"/>
            <a:ext cx="1745976" cy="858213"/>
            <a:chOff x="769" y="1587"/>
            <a:chExt cx="4174" cy="524"/>
          </a:xfrm>
        </p:grpSpPr>
        <p:sp>
          <p:nvSpPr>
            <p:cNvPr id="29" name="Rectangle 67">
              <a:extLst>
                <a:ext uri="{FF2B5EF4-FFF2-40B4-BE49-F238E27FC236}">
                  <a16:creationId xmlns:a16="http://schemas.microsoft.com/office/drawing/2014/main" id="{BC9EC85E-6410-E73B-B44F-916E1D35A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0" name="Rectangle 68">
              <a:extLst>
                <a:ext uri="{FF2B5EF4-FFF2-40B4-BE49-F238E27FC236}">
                  <a16:creationId xmlns:a16="http://schemas.microsoft.com/office/drawing/2014/main" id="{364154F8-7CCB-76F8-8B78-6D1BD5BFA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1" name="Rectangle 69">
              <a:extLst>
                <a:ext uri="{FF2B5EF4-FFF2-40B4-BE49-F238E27FC236}">
                  <a16:creationId xmlns:a16="http://schemas.microsoft.com/office/drawing/2014/main" id="{2C711A03-AB7B-67C2-6BA9-157D9A376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2" name="Rectangle 70">
              <a:extLst>
                <a:ext uri="{FF2B5EF4-FFF2-40B4-BE49-F238E27FC236}">
                  <a16:creationId xmlns:a16="http://schemas.microsoft.com/office/drawing/2014/main" id="{749E160E-7D11-B5D0-67C8-5A58C68F6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873"/>
              <a:ext cx="718" cy="23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3" name="Line 71">
              <a:extLst>
                <a:ext uri="{FF2B5EF4-FFF2-40B4-BE49-F238E27FC236}">
                  <a16:creationId xmlns:a16="http://schemas.microsoft.com/office/drawing/2014/main" id="{0283AE8E-1521-BA26-406D-CEE71AC38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" y="1728"/>
              <a:ext cx="34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4" name="Line 72">
              <a:extLst>
                <a:ext uri="{FF2B5EF4-FFF2-40B4-BE49-F238E27FC236}">
                  <a16:creationId xmlns:a16="http://schemas.microsoft.com/office/drawing/2014/main" id="{DDB528AC-39DF-2314-09F4-7C8E5CF47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5" name="Line 73">
              <a:extLst>
                <a:ext uri="{FF2B5EF4-FFF2-40B4-BE49-F238E27FC236}">
                  <a16:creationId xmlns:a16="http://schemas.microsoft.com/office/drawing/2014/main" id="{A617D88C-81E0-754A-2E70-3F4CBC8A7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87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6" name="Line 74">
              <a:extLst>
                <a:ext uri="{FF2B5EF4-FFF2-40B4-BE49-F238E27FC236}">
                  <a16:creationId xmlns:a16="http://schemas.microsoft.com/office/drawing/2014/main" id="{C8F48890-36ED-2E7A-98B2-FE47912C17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7" name="Line 75">
              <a:extLst>
                <a:ext uri="{FF2B5EF4-FFF2-40B4-BE49-F238E27FC236}">
                  <a16:creationId xmlns:a16="http://schemas.microsoft.com/office/drawing/2014/main" id="{2AD4B9A8-FCFE-EC1B-DD40-475A5BFE3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8" name="Line 76">
              <a:extLst>
                <a:ext uri="{FF2B5EF4-FFF2-40B4-BE49-F238E27FC236}">
                  <a16:creationId xmlns:a16="http://schemas.microsoft.com/office/drawing/2014/main" id="{B02E7044-5AB7-E080-A335-58B9A530B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731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가는둥근제목체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5715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WBS </a:t>
            </a:r>
            <a:r>
              <a:rPr lang="ko-KR" altLang="en-US" dirty="0"/>
              <a:t>작성시 유의사항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hangingPunct="0">
              <a:buFontTx/>
              <a:buChar char="•"/>
            </a:pPr>
            <a:r>
              <a:rPr lang="ko-KR" altLang="en-US" dirty="0"/>
              <a:t>최하위 </a:t>
            </a:r>
            <a:r>
              <a:rPr lang="ko-KR" altLang="en-US" dirty="0" err="1"/>
              <a:t>타스크</a:t>
            </a:r>
            <a:r>
              <a:rPr lang="en-US" altLang="ko-KR" dirty="0"/>
              <a:t>(</a:t>
            </a:r>
            <a:r>
              <a:rPr lang="ko-KR" altLang="en-US" dirty="0"/>
              <a:t>워크 패키지</a:t>
            </a:r>
            <a:r>
              <a:rPr lang="en-US" altLang="ko-KR" dirty="0"/>
              <a:t>)</a:t>
            </a:r>
            <a:r>
              <a:rPr lang="ko-KR" altLang="en-US" dirty="0"/>
              <a:t>의 경우</a:t>
            </a:r>
            <a:r>
              <a:rPr lang="en-US" altLang="ko-KR" dirty="0"/>
              <a:t>,</a:t>
            </a:r>
            <a:r>
              <a:rPr lang="ko-KR" altLang="en-US" dirty="0"/>
              <a:t> 산출물이 누락되지 않도록 정의</a:t>
            </a:r>
            <a:endParaRPr lang="en-US" altLang="ko-KR" dirty="0"/>
          </a:p>
          <a:p>
            <a:pPr eaLnBrk="0" hangingPunct="0">
              <a:buFontTx/>
              <a:buChar char="•"/>
            </a:pPr>
            <a:r>
              <a:rPr lang="en-US" altLang="ko-KR" dirty="0">
                <a:latin typeface="+mn-ea"/>
              </a:rPr>
              <a:t>MECE(Mutually Exclusive and Collectively Exhaustive)</a:t>
            </a:r>
            <a:r>
              <a:rPr lang="ko-KR" altLang="en-US" dirty="0">
                <a:latin typeface="+mn-ea"/>
              </a:rPr>
              <a:t>의 원칙에 맞게  작성</a:t>
            </a:r>
          </a:p>
          <a:p>
            <a:pPr>
              <a:buFontTx/>
              <a:buChar char="•"/>
            </a:pPr>
            <a:r>
              <a:rPr lang="en-US" altLang="ko-KR" dirty="0">
                <a:latin typeface="+mn-ea"/>
              </a:rPr>
              <a:t>WBS </a:t>
            </a:r>
            <a:r>
              <a:rPr lang="ko-KR" altLang="en-US" dirty="0">
                <a:latin typeface="+mn-ea"/>
              </a:rPr>
              <a:t>작성 후 번호 부여</a:t>
            </a:r>
          </a:p>
          <a:p>
            <a:pPr>
              <a:buFontTx/>
              <a:buChar char="•"/>
            </a:pPr>
            <a:r>
              <a:rPr lang="ko-KR" altLang="en-US" dirty="0">
                <a:latin typeface="+mn-ea"/>
              </a:rPr>
              <a:t>번호는 업무의 순서와는 관계가 없고  위계 </a:t>
            </a:r>
            <a:r>
              <a:rPr lang="en-US" altLang="ko-KR" dirty="0">
                <a:latin typeface="+mn-ea"/>
              </a:rPr>
              <a:t>(Hierarchy)</a:t>
            </a:r>
            <a:r>
              <a:rPr lang="ko-KR" altLang="en-US" dirty="0">
                <a:latin typeface="+mn-ea"/>
              </a:rPr>
              <a:t>를 나타냄</a:t>
            </a:r>
            <a:endParaRPr lang="en-US" altLang="ko-KR" dirty="0">
              <a:latin typeface="가는둥근제목체" pitchFamily="18" charset="-127"/>
            </a:endParaRP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694" y="1107608"/>
            <a:ext cx="5520612" cy="5095950"/>
          </a:xfrm>
          <a:prstGeom prst="rect">
            <a:avLst/>
          </a:prstGeom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Questions &amp; Answers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BCDE8F7-FBF2-E625-BAFD-23BD26B9B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577869" cy="499270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6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33967</TotalTime>
  <Words>727</Words>
  <Application>Microsoft Office PowerPoint</Application>
  <PresentationFormat>와이드스크린</PresentationFormat>
  <Paragraphs>90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SandJg</vt:lpstr>
      <vt:lpstr>가는둥근제목체</vt:lpstr>
      <vt:lpstr>맑은 고딕</vt:lpstr>
      <vt:lpstr>Arial</vt:lpstr>
      <vt:lpstr>Calibri</vt:lpstr>
      <vt:lpstr>Wingdings</vt:lpstr>
      <vt:lpstr>Office Theme</vt:lpstr>
      <vt:lpstr>소프트웨어 공학   팀과제 3. 초기 WBS 정의</vt:lpstr>
      <vt:lpstr>팀과제 3. 초기 WBS 정의</vt:lpstr>
      <vt:lpstr>SW Development Lifecycle 및 초기 WBS 정의</vt:lpstr>
      <vt:lpstr>WBS</vt:lpstr>
      <vt:lpstr>1. 참조를 위한 표준 WBS 확보</vt:lpstr>
      <vt:lpstr>표준 WBS사례 1</vt:lpstr>
      <vt:lpstr>표준 WBS사례 2</vt:lpstr>
      <vt:lpstr>표준 WBS사례 3</vt:lpstr>
      <vt:lpstr>표준 WBS사례 3 (계속)</vt:lpstr>
      <vt:lpstr>2. SW Development Lifecyle 정의 (결정사유 포함) </vt:lpstr>
      <vt:lpstr>참고. Staged Delivery</vt:lpstr>
      <vt:lpstr>참고. Waterfall with evolutionary development cycle</vt:lpstr>
      <vt:lpstr>3. 표준 WBS를 활용하여 초기 WBS 정의</vt:lpstr>
      <vt:lpstr>3. 표준 WBS를 활용하여 초기 WBS 정의</vt:lpstr>
      <vt:lpstr>WBS 작성시 유의사항</vt:lpstr>
      <vt:lpstr>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 chap 1. Introduction</dc:title>
  <dc:creator>Microsoft Office User</dc:creator>
  <cp:lastModifiedBy>최수진</cp:lastModifiedBy>
  <cp:revision>180</cp:revision>
  <cp:lastPrinted>2025-10-28T15:56:39Z</cp:lastPrinted>
  <dcterms:created xsi:type="dcterms:W3CDTF">2016-03-01T07:34:49Z</dcterms:created>
  <dcterms:modified xsi:type="dcterms:W3CDTF">2025-10-28T15:56:39Z</dcterms:modified>
</cp:coreProperties>
</file>