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autoCompressPictures="0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56" r:id="rId2"/>
    <p:sldId id="2743" r:id="rId3"/>
    <p:sldId id="2744" r:id="rId4"/>
    <p:sldId id="2832" r:id="rId5"/>
    <p:sldId id="2815" r:id="rId6"/>
    <p:sldId id="2680" r:id="rId7"/>
    <p:sldId id="2681" r:id="rId8"/>
    <p:sldId id="4589" r:id="rId9"/>
    <p:sldId id="270" r:id="rId10"/>
  </p:sldIdLst>
  <p:sldSz cx="12192000" cy="6858000"/>
  <p:notesSz cx="6797675" cy="992822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5" autoAdjust="0"/>
    <p:restoredTop sz="74080" autoAdjust="0"/>
  </p:normalViewPr>
  <p:slideViewPr>
    <p:cSldViewPr snapToGrid="0" snapToObjects="1">
      <p:cViewPr>
        <p:scale>
          <a:sx n="82" d="100"/>
          <a:sy n="82" d="100"/>
        </p:scale>
        <p:origin x="1458" y="-6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1644"/>
    </p:cViewPr>
  </p:sorterViewPr>
  <p:notesViewPr>
    <p:cSldViewPr snapToGrid="0" snapToObjects="1">
      <p:cViewPr varScale="1">
        <p:scale>
          <a:sx n="75" d="100"/>
          <a:sy n="75" d="100"/>
        </p:scale>
        <p:origin x="2700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5406" cy="497413"/>
          </a:xfrm>
          <a:prstGeom prst="rect">
            <a:avLst/>
          </a:prstGeom>
        </p:spPr>
        <p:txBody>
          <a:bodyPr vert="horz" lIns="88203" tIns="44102" rIns="88203" bIns="44102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1" y="9430813"/>
            <a:ext cx="2945406" cy="497413"/>
          </a:xfrm>
          <a:prstGeom prst="rect">
            <a:avLst/>
          </a:prstGeom>
        </p:spPr>
        <p:txBody>
          <a:bodyPr vert="horz" lIns="88203" tIns="44102" rIns="88203" bIns="44102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0750" y="9430813"/>
            <a:ext cx="2945405" cy="497413"/>
          </a:xfrm>
          <a:prstGeom prst="rect">
            <a:avLst/>
          </a:prstGeom>
        </p:spPr>
        <p:txBody>
          <a:bodyPr vert="horz" lIns="88203" tIns="44102" rIns="88203" bIns="44102" rtlCol="0" anchor="b"/>
          <a:lstStyle>
            <a:lvl1pPr algn="r">
              <a:defRPr sz="1200"/>
            </a:lvl1pPr>
          </a:lstStyle>
          <a:p>
            <a:fld id="{4F0DB0A5-66E7-49B7-BA7A-557FFA7EF1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3408286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135"/>
          </a:xfrm>
          <a:prstGeom prst="rect">
            <a:avLst/>
          </a:prstGeom>
        </p:spPr>
        <p:txBody>
          <a:bodyPr vert="horz" lIns="95568" tIns="47784" rIns="95568" bIns="47784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135"/>
          </a:xfrm>
          <a:prstGeom prst="rect">
            <a:avLst/>
          </a:prstGeom>
        </p:spPr>
        <p:txBody>
          <a:bodyPr vert="horz" lIns="95568" tIns="47784" rIns="95568" bIns="47784" rtlCol="0"/>
          <a:lstStyle>
            <a:lvl1pPr algn="r">
              <a:defRPr sz="1300"/>
            </a:lvl1pPr>
          </a:lstStyle>
          <a:p>
            <a:fld id="{871BFB05-34A1-3545-86B3-8557F70CEEF2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4713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568" tIns="47784" rIns="95568" bIns="47784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</p:spPr>
        <p:txBody>
          <a:bodyPr vert="horz" lIns="95568" tIns="47784" rIns="95568" bIns="47784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0092"/>
            <a:ext cx="2945659" cy="498134"/>
          </a:xfrm>
          <a:prstGeom prst="rect">
            <a:avLst/>
          </a:prstGeom>
        </p:spPr>
        <p:txBody>
          <a:bodyPr vert="horz" lIns="95568" tIns="47784" rIns="95568" bIns="47784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30092"/>
            <a:ext cx="2945659" cy="498134"/>
          </a:xfrm>
          <a:prstGeom prst="rect">
            <a:avLst/>
          </a:prstGeom>
        </p:spPr>
        <p:txBody>
          <a:bodyPr vert="horz" lIns="95568" tIns="47784" rIns="95568" bIns="47784" rtlCol="0" anchor="b"/>
          <a:lstStyle>
            <a:lvl1pPr algn="r">
              <a:defRPr sz="1300"/>
            </a:lvl1pPr>
          </a:lstStyle>
          <a:p>
            <a:fld id="{0B94CCC0-6084-0D4B-8BC8-7C2C2C1670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754486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553616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691702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378555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Instrument Cluster = </a:t>
            </a:r>
            <a:r>
              <a:rPr lang="ko-KR" altLang="en-US" dirty="0"/>
              <a:t>자동차 계기판 </a:t>
            </a:r>
            <a:r>
              <a:rPr lang="en-US" altLang="ko-KR" dirty="0"/>
              <a:t>(</a:t>
            </a:r>
            <a:r>
              <a:rPr lang="ko-KR" altLang="en-US" dirty="0"/>
              <a:t>운전자가 보는 각종 주행 정보 표시 장치</a:t>
            </a:r>
            <a:r>
              <a:rPr lang="en-US" altLang="ko-KR" dirty="0"/>
              <a:t>)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209258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400"/>
            </a:lvl1pPr>
          </a:lstStyle>
          <a:p>
            <a:r>
              <a:rPr lang="en-US" altLang="ko-KR" dirty="0"/>
              <a:t>Click to edit Master title style</a:t>
            </a:r>
            <a:br>
              <a:rPr lang="en-US" altLang="ko-KR" dirty="0"/>
            </a:br>
            <a:br>
              <a:rPr lang="en-US" altLang="ko-KR" dirty="0"/>
            </a:br>
            <a:br>
              <a:rPr lang="en-US" altLang="ko-KR" dirty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ko-KR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BF1B5-F791-C148-A17C-407912F45115}" type="datetime1">
              <a:rPr lang="ko-KR" altLang="en-US" smtClean="0"/>
              <a:t>2025-10-17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8B1FF-3FA7-3E47-A553-4A4DADC366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9180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741" y="141485"/>
            <a:ext cx="11186146" cy="553378"/>
          </a:xfrm>
        </p:spPr>
        <p:txBody>
          <a:bodyPr/>
          <a:lstStyle>
            <a:lvl1pPr>
              <a:defRPr b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98395"/>
            <a:ext cx="2743200" cy="365125"/>
          </a:xfrm>
        </p:spPr>
        <p:txBody>
          <a:bodyPr/>
          <a:lstStyle/>
          <a:p>
            <a:fld id="{8B425290-A52B-E146-90F6-15CF546A83C4}" type="datetime1">
              <a:rPr lang="ko-KR" altLang="en-US" smtClean="0"/>
              <a:t>2025-10-17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498395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F48E2B7-3549-0345-5BED-798B6BD82D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67886" y="6500928"/>
            <a:ext cx="542648" cy="25695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48B1FF-3FA7-3E47-A553-4A4DADC366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87817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810B4-95D2-7A4C-96D4-2531BF88ACBF}" type="datetime1">
              <a:rPr lang="ko-KR" altLang="en-US" smtClean="0"/>
              <a:t>2025-10-17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8B1FF-3FA7-3E47-A553-4A4DADC36665}" type="slidenum">
              <a:rPr lang="en-US" smtClean="0"/>
              <a:t>‹#›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E24E04E-5037-21D0-2EA3-1F7BD268CB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495" y="913479"/>
            <a:ext cx="11585880" cy="5249660"/>
          </a:xfr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930405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B1625-8702-294D-B966-549C6EC129F4}" type="datetime1">
              <a:rPr lang="ko-KR" altLang="en-US" smtClean="0"/>
              <a:t>2025-10-17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434716" y="6492050"/>
            <a:ext cx="542648" cy="256951"/>
          </a:xfrm>
        </p:spPr>
        <p:txBody>
          <a:bodyPr/>
          <a:lstStyle/>
          <a:p>
            <a:fld id="{2B48B1FF-3FA7-3E47-A553-4A4DADC36665}" type="slidenum">
              <a:rPr lang="en-US" smtClean="0"/>
              <a:t>‹#›</a:t>
            </a:fld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C295846-6895-0792-2FFE-E4D3A69150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495" y="913479"/>
            <a:ext cx="11160669" cy="5249660"/>
          </a:xfr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5B6A536-951C-6ACB-1809-5F4D2B85C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495" y="141484"/>
            <a:ext cx="11168391" cy="663819"/>
          </a:xfr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502347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6240" y="109982"/>
            <a:ext cx="11211969" cy="571055"/>
          </a:xfrm>
        </p:spPr>
        <p:txBody>
          <a:bodyPr>
            <a:noAutofit/>
          </a:bodyPr>
          <a:lstStyle>
            <a:lvl1pPr>
              <a:defRPr sz="3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2B48B1FF-3FA7-3E47-A553-4A4DADC366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22045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tif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9495" y="141484"/>
            <a:ext cx="11585880" cy="6638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9495" y="913479"/>
            <a:ext cx="11577869" cy="52496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 dirty="0"/>
              <a:t>Click to edit Master text styles</a:t>
            </a:r>
          </a:p>
          <a:p>
            <a:pPr lvl="1"/>
            <a:r>
              <a:rPr lang="en-US" altLang="ko-KR" dirty="0"/>
              <a:t>Second level</a:t>
            </a:r>
          </a:p>
          <a:p>
            <a:pPr lvl="2"/>
            <a:r>
              <a:rPr lang="en-US" altLang="ko-KR" dirty="0"/>
              <a:t>Third level</a:t>
            </a:r>
          </a:p>
          <a:p>
            <a:pPr lvl="3"/>
            <a:r>
              <a:rPr lang="en-US" altLang="ko-KR" dirty="0"/>
              <a:t>Fourth level</a:t>
            </a:r>
          </a:p>
          <a:p>
            <a:pPr lvl="4"/>
            <a:r>
              <a:rPr lang="en-US" altLang="ko-KR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46452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58677D-8D6C-694F-A320-DD1B0BD33CD5}" type="datetime1">
              <a:rPr lang="ko-KR" altLang="en-US" smtClean="0"/>
              <a:t>2025-10-17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46452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cxnSp>
        <p:nvCxnSpPr>
          <p:cNvPr id="16" name="Straight Connector 8">
            <a:extLst>
              <a:ext uri="{FF2B5EF4-FFF2-40B4-BE49-F238E27FC236}">
                <a16:creationId xmlns:a16="http://schemas.microsoft.com/office/drawing/2014/main" id="{5CE60BE4-C5C3-FFCA-B1F6-86413FE9538B}"/>
              </a:ext>
            </a:extLst>
          </p:cNvPr>
          <p:cNvCxnSpPr>
            <a:cxnSpLocks/>
          </p:cNvCxnSpPr>
          <p:nvPr userDrawn="1"/>
        </p:nvCxnSpPr>
        <p:spPr>
          <a:xfrm>
            <a:off x="0" y="6629404"/>
            <a:ext cx="121920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D60D08C-B95F-60EE-F8BD-BA828328042F}"/>
              </a:ext>
            </a:extLst>
          </p:cNvPr>
          <p:cNvSpPr/>
          <p:nvPr userDrawn="1"/>
        </p:nvSpPr>
        <p:spPr>
          <a:xfrm>
            <a:off x="216640" y="149296"/>
            <a:ext cx="122534" cy="431999"/>
          </a:xfrm>
          <a:prstGeom prst="roundRect">
            <a:avLst>
              <a:gd name="adj" fmla="val 50000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342B999F-5162-A5A7-1A6A-D000B192FFAA}"/>
              </a:ext>
            </a:extLst>
          </p:cNvPr>
          <p:cNvGrpSpPr/>
          <p:nvPr userDrawn="1"/>
        </p:nvGrpSpPr>
        <p:grpSpPr>
          <a:xfrm>
            <a:off x="2526" y="24424"/>
            <a:ext cx="12194526" cy="64928"/>
            <a:chOff x="0" y="701468"/>
            <a:chExt cx="12194526" cy="64928"/>
          </a:xfrm>
        </p:grpSpPr>
        <p:cxnSp>
          <p:nvCxnSpPr>
            <p:cNvPr id="19" name="Straight Connector 7">
              <a:extLst>
                <a:ext uri="{FF2B5EF4-FFF2-40B4-BE49-F238E27FC236}">
                  <a16:creationId xmlns:a16="http://schemas.microsoft.com/office/drawing/2014/main" id="{F9E97D85-8C17-4306-9411-B110F935F2C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0" y="701468"/>
              <a:ext cx="12192000" cy="0"/>
            </a:xfrm>
            <a:prstGeom prst="line">
              <a:avLst/>
            </a:prstGeom>
            <a:ln w="762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7">
              <a:extLst>
                <a:ext uri="{FF2B5EF4-FFF2-40B4-BE49-F238E27FC236}">
                  <a16:creationId xmlns:a16="http://schemas.microsoft.com/office/drawing/2014/main" id="{B8160BDF-B38F-0F0E-5C95-E0C3A127B1D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526" y="766396"/>
              <a:ext cx="12192000" cy="0"/>
            </a:xfrm>
            <a:prstGeom prst="line">
              <a:avLst/>
            </a:prstGeom>
            <a:ln w="63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216640" y="6488939"/>
            <a:ext cx="1212665" cy="365124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34716" y="6500928"/>
            <a:ext cx="542648" cy="25695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48B1FF-3FA7-3E47-A553-4A4DADC366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4467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4" r:id="rId3"/>
    <p:sldLayoutId id="2147483655" r:id="rId4"/>
    <p:sldLayoutId id="2147483656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rgbClr val="FF0000"/>
          </a:solidFill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000" b="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b="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600" b="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400" b="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400" b="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dunet.net/html/myedusvc/ladder.html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erforce.com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if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409090"/>
            <a:ext cx="9144000" cy="2387600"/>
          </a:xfrm>
        </p:spPr>
        <p:txBody>
          <a:bodyPr>
            <a:normAutofit/>
          </a:bodyPr>
          <a:lstStyle/>
          <a:p>
            <a:r>
              <a:rPr lang="ko-KR" altLang="en-US" sz="5400" dirty="0">
                <a:latin typeface="+mj-ea"/>
                <a:ea typeface="+mj-ea"/>
              </a:rPr>
              <a:t>소프트웨어 공학</a:t>
            </a:r>
            <a:br>
              <a:rPr lang="en-GB" altLang="ko-KR" sz="5400" dirty="0">
                <a:latin typeface="+mj-ea"/>
                <a:ea typeface="+mj-ea"/>
              </a:rPr>
            </a:br>
            <a:br>
              <a:rPr lang="en-GB" altLang="ko-KR" dirty="0">
                <a:latin typeface="+mj-ea"/>
                <a:ea typeface="+mj-ea"/>
              </a:rPr>
            </a:br>
            <a:br>
              <a:rPr lang="en-US" sz="2200" dirty="0">
                <a:latin typeface="+mj-ea"/>
                <a:ea typeface="+mj-ea"/>
              </a:rPr>
            </a:br>
            <a:r>
              <a:rPr lang="ko-KR" altLang="en-US" sz="3200" b="0" dirty="0" err="1">
                <a:latin typeface="+mj-ea"/>
                <a:ea typeface="+mj-ea"/>
              </a:rPr>
              <a:t>팀과제</a:t>
            </a:r>
            <a:r>
              <a:rPr lang="ko-KR" altLang="en-US" sz="3200" b="0" dirty="0">
                <a:latin typeface="+mj-ea"/>
                <a:ea typeface="+mj-ea"/>
              </a:rPr>
              <a:t> </a:t>
            </a:r>
            <a:r>
              <a:rPr lang="en-GB" altLang="ko-KR" sz="3200" b="0" dirty="0">
                <a:latin typeface="+mj-ea"/>
                <a:ea typeface="+mj-ea"/>
              </a:rPr>
              <a:t>2. </a:t>
            </a:r>
            <a:r>
              <a:rPr lang="ko-KR" altLang="en-US" sz="3200" b="0" dirty="0">
                <a:latin typeface="+mj-ea"/>
                <a:ea typeface="+mj-ea"/>
              </a:rPr>
              <a:t>프로젝트 환경 계획을 위한 도구 조사</a:t>
            </a:r>
            <a:endParaRPr lang="en-US" sz="3200" b="0" dirty="0">
              <a:latin typeface="+mj-ea"/>
              <a:ea typeface="+mj-ea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455883"/>
            <a:ext cx="9144000" cy="1553028"/>
          </a:xfrm>
        </p:spPr>
        <p:txBody>
          <a:bodyPr>
            <a:normAutofit/>
          </a:bodyPr>
          <a:lstStyle/>
          <a:p>
            <a:pPr algn="r"/>
            <a:r>
              <a:rPr lang="en-US" sz="2800" dirty="0" err="1"/>
              <a:t>SuJin</a:t>
            </a:r>
            <a:r>
              <a:rPr lang="en-US" sz="2800" dirty="0"/>
              <a:t> Choi, PhD</a:t>
            </a:r>
          </a:p>
          <a:p>
            <a:pPr algn="r"/>
            <a:r>
              <a:rPr lang="en-US" sz="2000" dirty="0" err="1"/>
              <a:t>Sogang</a:t>
            </a:r>
            <a:r>
              <a:rPr lang="en-US" sz="2000" dirty="0"/>
              <a:t> University</a:t>
            </a:r>
          </a:p>
          <a:p>
            <a:pPr algn="r"/>
            <a:r>
              <a:rPr lang="en-US" sz="2000" dirty="0"/>
              <a:t>Email: </a:t>
            </a:r>
            <a:r>
              <a:rPr lang="en-US" sz="2000" dirty="0" err="1"/>
              <a:t>sujinchoi@sogang.ac.kr</a:t>
            </a:r>
            <a:endParaRPr lang="en-US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1407886" y="1340078"/>
            <a:ext cx="968102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407886" y="3843793"/>
            <a:ext cx="968102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611" y="175000"/>
            <a:ext cx="2032451" cy="623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826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8892"/>
    </mc:Choice>
    <mc:Fallback xmlns="">
      <p:transition spd="slow" advTm="88892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07451F-52F2-1252-15A2-17D6EE210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D0AD97-CEB8-45A4-6D0A-E3EF0C053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 err="1"/>
              <a:t>팀과제</a:t>
            </a:r>
            <a:r>
              <a:rPr lang="ko-KR" altLang="en-US" dirty="0"/>
              <a:t> </a:t>
            </a:r>
            <a:r>
              <a:rPr lang="en-GB" altLang="ko-KR" dirty="0"/>
              <a:t>2. </a:t>
            </a:r>
            <a:r>
              <a:rPr lang="ko-KR" altLang="en-US" dirty="0"/>
              <a:t>프로젝트 환경 계획을 위한 도구 조사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9B20B4-05AB-255F-E665-4C2FA04971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495" y="913478"/>
            <a:ext cx="11474057" cy="5587449"/>
          </a:xfrm>
        </p:spPr>
        <p:txBody>
          <a:bodyPr>
            <a:noAutofit/>
          </a:bodyPr>
          <a:lstStyle/>
          <a:p>
            <a:r>
              <a:rPr lang="ko-KR" altLang="en-US" b="1" dirty="0"/>
              <a:t>프로젝트에서 활용하는 도구</a:t>
            </a:r>
            <a:r>
              <a:rPr lang="en-GB" altLang="ko-KR" b="1" dirty="0"/>
              <a:t> </a:t>
            </a:r>
            <a:r>
              <a:rPr lang="ko-KR" altLang="en-US" b="1" dirty="0"/>
              <a:t>조사</a:t>
            </a:r>
            <a:r>
              <a:rPr lang="en-US" altLang="ko-KR" b="1" dirty="0"/>
              <a:t>/</a:t>
            </a:r>
            <a:r>
              <a:rPr lang="ko-KR" altLang="en-US" b="1" dirty="0"/>
              <a:t>분석</a:t>
            </a:r>
            <a:r>
              <a:rPr lang="en-US" altLang="ko-KR" b="1" dirty="0"/>
              <a:t>/</a:t>
            </a:r>
            <a:r>
              <a:rPr lang="ko-KR" altLang="en-US" b="1" dirty="0"/>
              <a:t>튜토리얼 제작</a:t>
            </a:r>
            <a:endParaRPr lang="en-GB" altLang="ko-KR" b="1" dirty="0"/>
          </a:p>
          <a:p>
            <a:endParaRPr lang="en-US" altLang="ko-KR" b="1" dirty="0"/>
          </a:p>
          <a:p>
            <a:pPr lvl="1"/>
            <a:r>
              <a:rPr lang="ko-KR" altLang="en-US" b="1" dirty="0"/>
              <a:t>팀별 </a:t>
            </a:r>
            <a:r>
              <a:rPr lang="en-GB" altLang="ko-KR" b="1" dirty="0"/>
              <a:t>2</a:t>
            </a:r>
            <a:r>
              <a:rPr lang="ko-KR" altLang="en-US" b="1" dirty="0"/>
              <a:t>개 카테고리</a:t>
            </a:r>
            <a:r>
              <a:rPr lang="en-GB" altLang="ko-KR" b="1" dirty="0"/>
              <a:t>, </a:t>
            </a:r>
            <a:r>
              <a:rPr lang="ko-KR" altLang="en-US" b="1" dirty="0"/>
              <a:t>카테고리별 </a:t>
            </a:r>
            <a:r>
              <a:rPr lang="en-GB" altLang="ko-KR" b="1" dirty="0"/>
              <a:t>2</a:t>
            </a:r>
            <a:r>
              <a:rPr lang="ko-KR" altLang="en-US" b="1" dirty="0"/>
              <a:t>개 이상의 도구 선정하여 기능조사 및 비교 </a:t>
            </a:r>
            <a:r>
              <a:rPr lang="en-GB" altLang="ko-KR" b="1" dirty="0"/>
              <a:t>(</a:t>
            </a:r>
            <a:r>
              <a:rPr lang="ko-KR" altLang="en-US" b="1" dirty="0"/>
              <a:t>선정사유 포함</a:t>
            </a:r>
            <a:r>
              <a:rPr lang="en-GB" altLang="ko-KR" b="1" dirty="0"/>
              <a:t>)</a:t>
            </a:r>
          </a:p>
          <a:p>
            <a:pPr lvl="2"/>
            <a:r>
              <a:rPr lang="ko-KR" altLang="en-US" b="1" dirty="0"/>
              <a:t>도구 선정기준</a:t>
            </a:r>
            <a:r>
              <a:rPr lang="en-GB" altLang="ko-KR" b="1" dirty="0"/>
              <a:t>: </a:t>
            </a:r>
            <a:r>
              <a:rPr lang="ko-KR" altLang="en-US" b="1" dirty="0"/>
              <a:t>가능하면 </a:t>
            </a:r>
            <a:r>
              <a:rPr lang="en-GB" altLang="ko-KR" b="1" dirty="0"/>
              <a:t>AI/LLM</a:t>
            </a:r>
            <a:r>
              <a:rPr lang="ko-KR" altLang="en-US" b="1" dirty="0"/>
              <a:t> 활용한 기능이 포함된 것으로</a:t>
            </a:r>
            <a:r>
              <a:rPr lang="en-GB" altLang="ko-KR" b="1" dirty="0"/>
              <a:t>, </a:t>
            </a:r>
            <a:r>
              <a:rPr lang="ko-KR" altLang="en-US" b="1" dirty="0"/>
              <a:t>현재 업계에서 많이 쓰이거나</a:t>
            </a:r>
            <a:r>
              <a:rPr lang="en-GB" altLang="ko-KR" b="1" dirty="0"/>
              <a:t>, </a:t>
            </a:r>
            <a:r>
              <a:rPr lang="ko-KR" altLang="en-US" b="1" dirty="0"/>
              <a:t>기능적으로 월등하다고 여겨지는 도구로 선정함</a:t>
            </a:r>
            <a:endParaRPr lang="en-GB" altLang="ko-KR" b="1" dirty="0"/>
          </a:p>
          <a:p>
            <a:pPr lvl="2"/>
            <a:r>
              <a:rPr lang="ko-KR" altLang="en-US" dirty="0"/>
              <a:t>도구별로 기능이 확장되어 가는 추세로</a:t>
            </a:r>
            <a:r>
              <a:rPr lang="en-GB" altLang="ko-KR" dirty="0"/>
              <a:t>,</a:t>
            </a:r>
            <a:r>
              <a:rPr lang="ko-KR" altLang="en-US" dirty="0"/>
              <a:t> 카테고리 간에 경계가 모호한 경우</a:t>
            </a:r>
            <a:r>
              <a:rPr lang="en-GB" altLang="ko-KR" dirty="0"/>
              <a:t>, </a:t>
            </a:r>
            <a:r>
              <a:rPr lang="ko-KR" altLang="en-US" dirty="0"/>
              <a:t>팀내에서 발표범위를 정하고 </a:t>
            </a:r>
            <a:r>
              <a:rPr lang="ko-KR" altLang="en-US" dirty="0" err="1"/>
              <a:t>발표시</a:t>
            </a:r>
            <a:r>
              <a:rPr lang="ko-KR" altLang="en-US" dirty="0"/>
              <a:t> 언급함</a:t>
            </a:r>
            <a:r>
              <a:rPr lang="en-GB" altLang="ko-KR" dirty="0"/>
              <a:t>.</a:t>
            </a:r>
            <a:endParaRPr lang="en-US" altLang="ko-KR" b="1" dirty="0"/>
          </a:p>
          <a:p>
            <a:pPr lvl="1"/>
            <a:endParaRPr lang="en-GB" altLang="ko-KR" b="1" dirty="0"/>
          </a:p>
          <a:p>
            <a:pPr lvl="1"/>
            <a:r>
              <a:rPr lang="ko-KR" altLang="en-US" b="1" dirty="0"/>
              <a:t>국내외 실제 활용 사례 </a:t>
            </a:r>
            <a:r>
              <a:rPr lang="en-US" altLang="ko-KR" b="1" dirty="0"/>
              <a:t>1</a:t>
            </a:r>
            <a:r>
              <a:rPr lang="ko-KR" altLang="en-US" b="1" dirty="0"/>
              <a:t>건 이상 </a:t>
            </a:r>
            <a:r>
              <a:rPr lang="en-GB" altLang="ko-KR" b="1" dirty="0"/>
              <a:t>(</a:t>
            </a:r>
            <a:r>
              <a:rPr lang="ko-KR" altLang="en-US" b="1" dirty="0"/>
              <a:t>조사한 도구가 </a:t>
            </a:r>
            <a:r>
              <a:rPr lang="en-GB" altLang="ko-KR" b="1" dirty="0"/>
              <a:t>1</a:t>
            </a:r>
            <a:r>
              <a:rPr lang="ko-KR" altLang="en-US" b="1" dirty="0"/>
              <a:t>개 이상 포함되도록</a:t>
            </a:r>
            <a:r>
              <a:rPr lang="en-GB" altLang="ko-KR" b="1" dirty="0"/>
              <a:t>)</a:t>
            </a:r>
            <a:r>
              <a:rPr lang="ko-KR" altLang="en-US" b="1" dirty="0"/>
              <a:t> </a:t>
            </a:r>
            <a:endParaRPr lang="en-GB" altLang="ko-KR" b="1" dirty="0"/>
          </a:p>
          <a:p>
            <a:pPr lvl="1"/>
            <a:endParaRPr lang="en-GB" altLang="ko-KR" sz="2000" b="1" dirty="0"/>
          </a:p>
          <a:p>
            <a:pPr lvl="1"/>
            <a:r>
              <a:rPr lang="ko-KR" altLang="en-US" sz="1800" b="1" dirty="0"/>
              <a:t>팀별 약 </a:t>
            </a:r>
            <a:r>
              <a:rPr lang="en-GB" altLang="ko-KR" sz="1800" b="1" dirty="0"/>
              <a:t>20</a:t>
            </a:r>
            <a:r>
              <a:rPr lang="ko-KR" altLang="en-US" sz="1800" b="1" dirty="0"/>
              <a:t>분 분량</a:t>
            </a:r>
            <a:endParaRPr lang="en-GB" altLang="ko-KR" sz="1800" b="1" dirty="0"/>
          </a:p>
          <a:p>
            <a:endParaRPr lang="en-GB" altLang="ko-KR" sz="1800" b="1" dirty="0"/>
          </a:p>
          <a:p>
            <a:r>
              <a:rPr lang="ko-KR" altLang="en-US" sz="1800" b="1" dirty="0"/>
              <a:t>제출내용</a:t>
            </a:r>
            <a:r>
              <a:rPr lang="en-GB" altLang="ko-KR" sz="1800" b="1" dirty="0"/>
              <a:t>: ppt</a:t>
            </a:r>
            <a:r>
              <a:rPr lang="ko-KR" altLang="en-US" sz="1800" b="1" dirty="0"/>
              <a:t>발표자료는 </a:t>
            </a:r>
            <a:r>
              <a:rPr lang="en-GB" altLang="ko-KR" sz="1800" b="1" dirty="0"/>
              <a:t>pdf</a:t>
            </a:r>
            <a:r>
              <a:rPr lang="ko-KR" altLang="en-US" sz="1800" b="1" dirty="0"/>
              <a:t>로 </a:t>
            </a:r>
            <a:r>
              <a:rPr lang="ko-KR" altLang="en-US" sz="1800" b="1" dirty="0" err="1"/>
              <a:t>사캠</a:t>
            </a:r>
            <a:r>
              <a:rPr lang="en-GB" altLang="ko-KR" sz="1800" b="1" dirty="0"/>
              <a:t>. </a:t>
            </a:r>
            <a:r>
              <a:rPr lang="ko-KR" altLang="en-US" sz="1800" b="1" dirty="0"/>
              <a:t>발표영상은 조교에게 이메일 제출</a:t>
            </a:r>
            <a:endParaRPr lang="en-GB" altLang="ko-KR" sz="1800" b="1" dirty="0"/>
          </a:p>
          <a:p>
            <a:endParaRPr lang="en-GB" altLang="ko-KR" sz="1800" b="1" dirty="0"/>
          </a:p>
          <a:p>
            <a:r>
              <a:rPr lang="ko-KR" altLang="en-US" sz="1800" b="1" dirty="0"/>
              <a:t>제출기한</a:t>
            </a:r>
            <a:r>
              <a:rPr lang="en-GB" altLang="ko-KR" sz="1800" b="1" dirty="0"/>
              <a:t>: 11/12(</a:t>
            </a:r>
            <a:r>
              <a:rPr lang="ko-KR" altLang="en-US" sz="1800" b="1" dirty="0"/>
              <a:t>수</a:t>
            </a:r>
            <a:r>
              <a:rPr lang="en-GB" altLang="ko-KR" sz="1800" b="1" dirty="0"/>
              <a:t>), * 11</a:t>
            </a:r>
            <a:r>
              <a:rPr lang="ko-KR" altLang="en-US" sz="1800" b="1" dirty="0"/>
              <a:t>주차 수업으로 영상강의 등록 예정임 </a:t>
            </a:r>
            <a:r>
              <a:rPr lang="en-GB" altLang="ko-KR" sz="1800" b="1" dirty="0"/>
              <a:t>(</a:t>
            </a:r>
            <a:r>
              <a:rPr lang="ko-KR" altLang="en-US" sz="1800" b="1" dirty="0" err="1"/>
              <a:t>타팀</a:t>
            </a:r>
            <a:r>
              <a:rPr lang="ko-KR" altLang="en-US" sz="1800" b="1" dirty="0"/>
              <a:t> 수강생의 평가도 점수에 반영함</a:t>
            </a:r>
            <a:r>
              <a:rPr lang="en-GB" altLang="ko-KR" sz="1800" b="1" dirty="0"/>
              <a:t>)</a:t>
            </a:r>
            <a:endParaRPr lang="en-US" altLang="ko-KR" sz="1800" b="1" dirty="0"/>
          </a:p>
          <a:p>
            <a:endParaRPr lang="ko-KR" altLang="en-US" sz="1800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CB48D43-F4A3-48D4-6941-F1BEB826B8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48B1FF-3FA7-3E47-A553-4A4DADC36665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6894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ED4CBD-275B-0484-A0A7-B2E92FA6D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DD60BD-2462-A2C4-9E76-E1F13808A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조사 대상 도구 카테고리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11E3232-DC50-6EF9-EF8C-337E51E2B4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조사할 도구 카테고리 </a:t>
            </a:r>
            <a:r>
              <a:rPr lang="en-GB" altLang="ko-KR" dirty="0"/>
              <a:t>2</a:t>
            </a:r>
            <a:r>
              <a:rPr lang="ko-KR" altLang="en-US" dirty="0"/>
              <a:t>가지씩 지정</a:t>
            </a:r>
            <a:r>
              <a:rPr lang="en-GB" altLang="ko-KR" sz="1800" dirty="0"/>
              <a:t>.</a:t>
            </a:r>
            <a:br>
              <a:rPr lang="en-GB" altLang="ko-KR" sz="1800" dirty="0"/>
            </a:br>
            <a:r>
              <a:rPr lang="en-GB" altLang="ko-KR" sz="1800" dirty="0"/>
              <a:t>(8</a:t>
            </a:r>
            <a:r>
              <a:rPr lang="ko-KR" altLang="en-US" sz="1800" dirty="0"/>
              <a:t>번이 선택될 경우</a:t>
            </a:r>
            <a:r>
              <a:rPr lang="en-GB" altLang="ko-KR" sz="1800" dirty="0"/>
              <a:t>, </a:t>
            </a:r>
            <a:r>
              <a:rPr lang="ko-KR" altLang="en-US" sz="1800" dirty="0"/>
              <a:t>원하는 다른 카테고리로 변경할 수 있음</a:t>
            </a:r>
            <a:r>
              <a:rPr lang="en-GB" altLang="ko-KR" sz="1800" dirty="0"/>
              <a:t>)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CC7A0C0-DD7C-7607-07E2-42A10AEA0A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48B1FF-3FA7-3E47-A553-4A4DADC36665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486D02-408E-DC58-B4D6-8D3D4E702898}"/>
              </a:ext>
            </a:extLst>
          </p:cNvPr>
          <p:cNvSpPr txBox="1"/>
          <p:nvPr/>
        </p:nvSpPr>
        <p:spPr>
          <a:xfrm>
            <a:off x="543107" y="1763680"/>
            <a:ext cx="11296103" cy="3985515"/>
          </a:xfrm>
          <a:custGeom>
            <a:avLst/>
            <a:gdLst>
              <a:gd name="connsiteX0" fmla="*/ 0 w 11296103"/>
              <a:gd name="connsiteY0" fmla="*/ 0 h 3985515"/>
              <a:gd name="connsiteX1" fmla="*/ 777438 w 11296103"/>
              <a:gd name="connsiteY1" fmla="*/ 0 h 3985515"/>
              <a:gd name="connsiteX2" fmla="*/ 1554875 w 11296103"/>
              <a:gd name="connsiteY2" fmla="*/ 0 h 3985515"/>
              <a:gd name="connsiteX3" fmla="*/ 2219352 w 11296103"/>
              <a:gd name="connsiteY3" fmla="*/ 0 h 3985515"/>
              <a:gd name="connsiteX4" fmla="*/ 3109751 w 11296103"/>
              <a:gd name="connsiteY4" fmla="*/ 0 h 3985515"/>
              <a:gd name="connsiteX5" fmla="*/ 3774227 w 11296103"/>
              <a:gd name="connsiteY5" fmla="*/ 0 h 3985515"/>
              <a:gd name="connsiteX6" fmla="*/ 4325743 w 11296103"/>
              <a:gd name="connsiteY6" fmla="*/ 0 h 3985515"/>
              <a:gd name="connsiteX7" fmla="*/ 4877259 w 11296103"/>
              <a:gd name="connsiteY7" fmla="*/ 0 h 3985515"/>
              <a:gd name="connsiteX8" fmla="*/ 5315813 w 11296103"/>
              <a:gd name="connsiteY8" fmla="*/ 0 h 3985515"/>
              <a:gd name="connsiteX9" fmla="*/ 5980290 w 11296103"/>
              <a:gd name="connsiteY9" fmla="*/ 0 h 3985515"/>
              <a:gd name="connsiteX10" fmla="*/ 6757728 w 11296103"/>
              <a:gd name="connsiteY10" fmla="*/ 0 h 3985515"/>
              <a:gd name="connsiteX11" fmla="*/ 7648126 w 11296103"/>
              <a:gd name="connsiteY11" fmla="*/ 0 h 3985515"/>
              <a:gd name="connsiteX12" fmla="*/ 8312603 w 11296103"/>
              <a:gd name="connsiteY12" fmla="*/ 0 h 3985515"/>
              <a:gd name="connsiteX13" fmla="*/ 8977080 w 11296103"/>
              <a:gd name="connsiteY13" fmla="*/ 0 h 3985515"/>
              <a:gd name="connsiteX14" fmla="*/ 9754517 w 11296103"/>
              <a:gd name="connsiteY14" fmla="*/ 0 h 3985515"/>
              <a:gd name="connsiteX15" fmla="*/ 10418994 w 11296103"/>
              <a:gd name="connsiteY15" fmla="*/ 0 h 3985515"/>
              <a:gd name="connsiteX16" fmla="*/ 11296103 w 11296103"/>
              <a:gd name="connsiteY16" fmla="*/ 0 h 3985515"/>
              <a:gd name="connsiteX17" fmla="*/ 11296103 w 11296103"/>
              <a:gd name="connsiteY17" fmla="*/ 743963 h 3985515"/>
              <a:gd name="connsiteX18" fmla="*/ 11296103 w 11296103"/>
              <a:gd name="connsiteY18" fmla="*/ 1328505 h 3985515"/>
              <a:gd name="connsiteX19" fmla="*/ 11296103 w 11296103"/>
              <a:gd name="connsiteY19" fmla="*/ 1873192 h 3985515"/>
              <a:gd name="connsiteX20" fmla="*/ 11296103 w 11296103"/>
              <a:gd name="connsiteY20" fmla="*/ 2417879 h 3985515"/>
              <a:gd name="connsiteX21" fmla="*/ 11296103 w 11296103"/>
              <a:gd name="connsiteY21" fmla="*/ 3082132 h 3985515"/>
              <a:gd name="connsiteX22" fmla="*/ 11296103 w 11296103"/>
              <a:gd name="connsiteY22" fmla="*/ 3985515 h 3985515"/>
              <a:gd name="connsiteX23" fmla="*/ 10744587 w 11296103"/>
              <a:gd name="connsiteY23" fmla="*/ 3985515 h 3985515"/>
              <a:gd name="connsiteX24" fmla="*/ 9854189 w 11296103"/>
              <a:gd name="connsiteY24" fmla="*/ 3985515 h 3985515"/>
              <a:gd name="connsiteX25" fmla="*/ 9415634 w 11296103"/>
              <a:gd name="connsiteY25" fmla="*/ 3985515 h 3985515"/>
              <a:gd name="connsiteX26" fmla="*/ 8977080 w 11296103"/>
              <a:gd name="connsiteY26" fmla="*/ 3985515 h 3985515"/>
              <a:gd name="connsiteX27" fmla="*/ 8086681 w 11296103"/>
              <a:gd name="connsiteY27" fmla="*/ 3985515 h 3985515"/>
              <a:gd name="connsiteX28" fmla="*/ 7422204 w 11296103"/>
              <a:gd name="connsiteY28" fmla="*/ 3985515 h 3985515"/>
              <a:gd name="connsiteX29" fmla="*/ 7096611 w 11296103"/>
              <a:gd name="connsiteY29" fmla="*/ 3985515 h 3985515"/>
              <a:gd name="connsiteX30" fmla="*/ 6206212 w 11296103"/>
              <a:gd name="connsiteY30" fmla="*/ 3985515 h 3985515"/>
              <a:gd name="connsiteX31" fmla="*/ 5880618 w 11296103"/>
              <a:gd name="connsiteY31" fmla="*/ 3985515 h 3985515"/>
              <a:gd name="connsiteX32" fmla="*/ 5216142 w 11296103"/>
              <a:gd name="connsiteY32" fmla="*/ 3985515 h 3985515"/>
              <a:gd name="connsiteX33" fmla="*/ 4890548 w 11296103"/>
              <a:gd name="connsiteY33" fmla="*/ 3985515 h 3985515"/>
              <a:gd name="connsiteX34" fmla="*/ 4226071 w 11296103"/>
              <a:gd name="connsiteY34" fmla="*/ 3985515 h 3985515"/>
              <a:gd name="connsiteX35" fmla="*/ 3787517 w 11296103"/>
              <a:gd name="connsiteY35" fmla="*/ 3985515 h 3985515"/>
              <a:gd name="connsiteX36" fmla="*/ 3123040 w 11296103"/>
              <a:gd name="connsiteY36" fmla="*/ 3985515 h 3985515"/>
              <a:gd name="connsiteX37" fmla="*/ 2345603 w 11296103"/>
              <a:gd name="connsiteY37" fmla="*/ 3985515 h 3985515"/>
              <a:gd name="connsiteX38" fmla="*/ 1568165 w 11296103"/>
              <a:gd name="connsiteY38" fmla="*/ 3985515 h 3985515"/>
              <a:gd name="connsiteX39" fmla="*/ 790727 w 11296103"/>
              <a:gd name="connsiteY39" fmla="*/ 3985515 h 3985515"/>
              <a:gd name="connsiteX40" fmla="*/ 0 w 11296103"/>
              <a:gd name="connsiteY40" fmla="*/ 3985515 h 3985515"/>
              <a:gd name="connsiteX41" fmla="*/ 0 w 11296103"/>
              <a:gd name="connsiteY41" fmla="*/ 3400973 h 3985515"/>
              <a:gd name="connsiteX42" fmla="*/ 0 w 11296103"/>
              <a:gd name="connsiteY42" fmla="*/ 2696865 h 3985515"/>
              <a:gd name="connsiteX43" fmla="*/ 0 w 11296103"/>
              <a:gd name="connsiteY43" fmla="*/ 1952902 h 3985515"/>
              <a:gd name="connsiteX44" fmla="*/ 0 w 11296103"/>
              <a:gd name="connsiteY44" fmla="*/ 1368360 h 3985515"/>
              <a:gd name="connsiteX45" fmla="*/ 0 w 11296103"/>
              <a:gd name="connsiteY45" fmla="*/ 664252 h 3985515"/>
              <a:gd name="connsiteX46" fmla="*/ 0 w 11296103"/>
              <a:gd name="connsiteY46" fmla="*/ 0 h 3985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</a:cxnLst>
            <a:rect l="l" t="t" r="r" b="b"/>
            <a:pathLst>
              <a:path w="11296103" h="3985515" fill="none" extrusionOk="0">
                <a:moveTo>
                  <a:pt x="0" y="0"/>
                </a:moveTo>
                <a:cubicBezTo>
                  <a:pt x="347852" y="-25609"/>
                  <a:pt x="462853" y="20910"/>
                  <a:pt x="777438" y="0"/>
                </a:cubicBezTo>
                <a:cubicBezTo>
                  <a:pt x="1092023" y="-20910"/>
                  <a:pt x="1292001" y="-4568"/>
                  <a:pt x="1554875" y="0"/>
                </a:cubicBezTo>
                <a:cubicBezTo>
                  <a:pt x="1817749" y="4568"/>
                  <a:pt x="1893932" y="23722"/>
                  <a:pt x="2219352" y="0"/>
                </a:cubicBezTo>
                <a:cubicBezTo>
                  <a:pt x="2544772" y="-23722"/>
                  <a:pt x="2683454" y="33533"/>
                  <a:pt x="3109751" y="0"/>
                </a:cubicBezTo>
                <a:cubicBezTo>
                  <a:pt x="3536048" y="-33533"/>
                  <a:pt x="3617095" y="12369"/>
                  <a:pt x="3774227" y="0"/>
                </a:cubicBezTo>
                <a:cubicBezTo>
                  <a:pt x="3931359" y="-12369"/>
                  <a:pt x="4134470" y="-26929"/>
                  <a:pt x="4325743" y="0"/>
                </a:cubicBezTo>
                <a:cubicBezTo>
                  <a:pt x="4517016" y="26929"/>
                  <a:pt x="4690495" y="20930"/>
                  <a:pt x="4877259" y="0"/>
                </a:cubicBezTo>
                <a:cubicBezTo>
                  <a:pt x="5064023" y="-20930"/>
                  <a:pt x="5168582" y="-2321"/>
                  <a:pt x="5315813" y="0"/>
                </a:cubicBezTo>
                <a:cubicBezTo>
                  <a:pt x="5463044" y="2321"/>
                  <a:pt x="5796794" y="28512"/>
                  <a:pt x="5980290" y="0"/>
                </a:cubicBezTo>
                <a:cubicBezTo>
                  <a:pt x="6163786" y="-28512"/>
                  <a:pt x="6414369" y="15182"/>
                  <a:pt x="6757728" y="0"/>
                </a:cubicBezTo>
                <a:cubicBezTo>
                  <a:pt x="7101087" y="-15182"/>
                  <a:pt x="7444959" y="-33486"/>
                  <a:pt x="7648126" y="0"/>
                </a:cubicBezTo>
                <a:cubicBezTo>
                  <a:pt x="7851293" y="33486"/>
                  <a:pt x="8054472" y="-7182"/>
                  <a:pt x="8312603" y="0"/>
                </a:cubicBezTo>
                <a:cubicBezTo>
                  <a:pt x="8570734" y="7182"/>
                  <a:pt x="8646106" y="25599"/>
                  <a:pt x="8977080" y="0"/>
                </a:cubicBezTo>
                <a:cubicBezTo>
                  <a:pt x="9308054" y="-25599"/>
                  <a:pt x="9450395" y="9955"/>
                  <a:pt x="9754517" y="0"/>
                </a:cubicBezTo>
                <a:cubicBezTo>
                  <a:pt x="10058639" y="-9955"/>
                  <a:pt x="10257175" y="-10130"/>
                  <a:pt x="10418994" y="0"/>
                </a:cubicBezTo>
                <a:cubicBezTo>
                  <a:pt x="10580813" y="10130"/>
                  <a:pt x="11072107" y="21295"/>
                  <a:pt x="11296103" y="0"/>
                </a:cubicBezTo>
                <a:cubicBezTo>
                  <a:pt x="11302424" y="240983"/>
                  <a:pt x="11291612" y="546662"/>
                  <a:pt x="11296103" y="743963"/>
                </a:cubicBezTo>
                <a:cubicBezTo>
                  <a:pt x="11300594" y="941264"/>
                  <a:pt x="11272740" y="1156462"/>
                  <a:pt x="11296103" y="1328505"/>
                </a:cubicBezTo>
                <a:cubicBezTo>
                  <a:pt x="11319466" y="1500548"/>
                  <a:pt x="11303197" y="1732302"/>
                  <a:pt x="11296103" y="1873192"/>
                </a:cubicBezTo>
                <a:cubicBezTo>
                  <a:pt x="11289009" y="2014082"/>
                  <a:pt x="11276303" y="2262442"/>
                  <a:pt x="11296103" y="2417879"/>
                </a:cubicBezTo>
                <a:cubicBezTo>
                  <a:pt x="11315903" y="2573316"/>
                  <a:pt x="11271506" y="2774427"/>
                  <a:pt x="11296103" y="3082132"/>
                </a:cubicBezTo>
                <a:cubicBezTo>
                  <a:pt x="11320700" y="3389837"/>
                  <a:pt x="11312661" y="3793995"/>
                  <a:pt x="11296103" y="3985515"/>
                </a:cubicBezTo>
                <a:cubicBezTo>
                  <a:pt x="11114178" y="4007721"/>
                  <a:pt x="10996866" y="4006974"/>
                  <a:pt x="10744587" y="3985515"/>
                </a:cubicBezTo>
                <a:cubicBezTo>
                  <a:pt x="10492308" y="3964056"/>
                  <a:pt x="10077649" y="3962220"/>
                  <a:pt x="9854189" y="3985515"/>
                </a:cubicBezTo>
                <a:cubicBezTo>
                  <a:pt x="9630729" y="4008810"/>
                  <a:pt x="9522783" y="3968220"/>
                  <a:pt x="9415634" y="3985515"/>
                </a:cubicBezTo>
                <a:cubicBezTo>
                  <a:pt x="9308486" y="4002810"/>
                  <a:pt x="9148336" y="3987610"/>
                  <a:pt x="8977080" y="3985515"/>
                </a:cubicBezTo>
                <a:cubicBezTo>
                  <a:pt x="8805824" y="3983420"/>
                  <a:pt x="8390120" y="4012267"/>
                  <a:pt x="8086681" y="3985515"/>
                </a:cubicBezTo>
                <a:cubicBezTo>
                  <a:pt x="7783242" y="3958763"/>
                  <a:pt x="7602413" y="3983544"/>
                  <a:pt x="7422204" y="3985515"/>
                </a:cubicBezTo>
                <a:cubicBezTo>
                  <a:pt x="7241995" y="3987486"/>
                  <a:pt x="7232463" y="3985338"/>
                  <a:pt x="7096611" y="3985515"/>
                </a:cubicBezTo>
                <a:cubicBezTo>
                  <a:pt x="6960759" y="3985692"/>
                  <a:pt x="6468440" y="4007335"/>
                  <a:pt x="6206212" y="3985515"/>
                </a:cubicBezTo>
                <a:cubicBezTo>
                  <a:pt x="5943984" y="3963695"/>
                  <a:pt x="5973625" y="3995081"/>
                  <a:pt x="5880618" y="3985515"/>
                </a:cubicBezTo>
                <a:cubicBezTo>
                  <a:pt x="5787611" y="3975949"/>
                  <a:pt x="5356019" y="4012266"/>
                  <a:pt x="5216142" y="3985515"/>
                </a:cubicBezTo>
                <a:cubicBezTo>
                  <a:pt x="5076265" y="3958764"/>
                  <a:pt x="5043635" y="3972497"/>
                  <a:pt x="4890548" y="3985515"/>
                </a:cubicBezTo>
                <a:cubicBezTo>
                  <a:pt x="4737461" y="3998533"/>
                  <a:pt x="4492837" y="3985732"/>
                  <a:pt x="4226071" y="3985515"/>
                </a:cubicBezTo>
                <a:cubicBezTo>
                  <a:pt x="3959305" y="3985298"/>
                  <a:pt x="3928748" y="3995813"/>
                  <a:pt x="3787517" y="3985515"/>
                </a:cubicBezTo>
                <a:cubicBezTo>
                  <a:pt x="3646286" y="3975217"/>
                  <a:pt x="3380740" y="3997092"/>
                  <a:pt x="3123040" y="3985515"/>
                </a:cubicBezTo>
                <a:cubicBezTo>
                  <a:pt x="2865340" y="3973938"/>
                  <a:pt x="2583899" y="4012932"/>
                  <a:pt x="2345603" y="3985515"/>
                </a:cubicBezTo>
                <a:cubicBezTo>
                  <a:pt x="2107307" y="3958098"/>
                  <a:pt x="1824096" y="3989077"/>
                  <a:pt x="1568165" y="3985515"/>
                </a:cubicBezTo>
                <a:cubicBezTo>
                  <a:pt x="1312234" y="3981953"/>
                  <a:pt x="1131828" y="4019840"/>
                  <a:pt x="790727" y="3985515"/>
                </a:cubicBezTo>
                <a:cubicBezTo>
                  <a:pt x="449626" y="3951190"/>
                  <a:pt x="276510" y="4009069"/>
                  <a:pt x="0" y="3985515"/>
                </a:cubicBezTo>
                <a:cubicBezTo>
                  <a:pt x="-2662" y="3858548"/>
                  <a:pt x="-9770" y="3602675"/>
                  <a:pt x="0" y="3400973"/>
                </a:cubicBezTo>
                <a:cubicBezTo>
                  <a:pt x="9770" y="3199271"/>
                  <a:pt x="25936" y="2980607"/>
                  <a:pt x="0" y="2696865"/>
                </a:cubicBezTo>
                <a:cubicBezTo>
                  <a:pt x="-25936" y="2413123"/>
                  <a:pt x="31674" y="2210753"/>
                  <a:pt x="0" y="1952902"/>
                </a:cubicBezTo>
                <a:cubicBezTo>
                  <a:pt x="-31674" y="1695051"/>
                  <a:pt x="20840" y="1486568"/>
                  <a:pt x="0" y="1368360"/>
                </a:cubicBezTo>
                <a:cubicBezTo>
                  <a:pt x="-20840" y="1250152"/>
                  <a:pt x="12282" y="992279"/>
                  <a:pt x="0" y="664252"/>
                </a:cubicBezTo>
                <a:cubicBezTo>
                  <a:pt x="-12282" y="336225"/>
                  <a:pt x="-27373" y="331793"/>
                  <a:pt x="0" y="0"/>
                </a:cubicBezTo>
                <a:close/>
              </a:path>
              <a:path w="11296103" h="3985515" stroke="0" extrusionOk="0">
                <a:moveTo>
                  <a:pt x="0" y="0"/>
                </a:moveTo>
                <a:cubicBezTo>
                  <a:pt x="104781" y="3247"/>
                  <a:pt x="195836" y="-5242"/>
                  <a:pt x="325594" y="0"/>
                </a:cubicBezTo>
                <a:cubicBezTo>
                  <a:pt x="455352" y="5242"/>
                  <a:pt x="803385" y="31057"/>
                  <a:pt x="990070" y="0"/>
                </a:cubicBezTo>
                <a:cubicBezTo>
                  <a:pt x="1176755" y="-31057"/>
                  <a:pt x="1659040" y="-8224"/>
                  <a:pt x="1880469" y="0"/>
                </a:cubicBezTo>
                <a:cubicBezTo>
                  <a:pt x="2101898" y="8224"/>
                  <a:pt x="2167861" y="-7335"/>
                  <a:pt x="2431985" y="0"/>
                </a:cubicBezTo>
                <a:cubicBezTo>
                  <a:pt x="2696109" y="7335"/>
                  <a:pt x="2868265" y="13380"/>
                  <a:pt x="2983500" y="0"/>
                </a:cubicBezTo>
                <a:cubicBezTo>
                  <a:pt x="3098735" y="-13380"/>
                  <a:pt x="3590143" y="27218"/>
                  <a:pt x="3760938" y="0"/>
                </a:cubicBezTo>
                <a:cubicBezTo>
                  <a:pt x="3931733" y="-27218"/>
                  <a:pt x="4006813" y="10705"/>
                  <a:pt x="4086531" y="0"/>
                </a:cubicBezTo>
                <a:cubicBezTo>
                  <a:pt x="4166249" y="-10705"/>
                  <a:pt x="4510507" y="-16262"/>
                  <a:pt x="4751008" y="0"/>
                </a:cubicBezTo>
                <a:cubicBezTo>
                  <a:pt x="4991509" y="16262"/>
                  <a:pt x="5213041" y="-9070"/>
                  <a:pt x="5641407" y="0"/>
                </a:cubicBezTo>
                <a:cubicBezTo>
                  <a:pt x="6069773" y="9070"/>
                  <a:pt x="5985285" y="-12699"/>
                  <a:pt x="6192922" y="0"/>
                </a:cubicBezTo>
                <a:cubicBezTo>
                  <a:pt x="6400559" y="12699"/>
                  <a:pt x="6547128" y="4805"/>
                  <a:pt x="6744438" y="0"/>
                </a:cubicBezTo>
                <a:cubicBezTo>
                  <a:pt x="6941748" y="-4805"/>
                  <a:pt x="7055938" y="8758"/>
                  <a:pt x="7182993" y="0"/>
                </a:cubicBezTo>
                <a:cubicBezTo>
                  <a:pt x="7310048" y="-8758"/>
                  <a:pt x="7417999" y="7816"/>
                  <a:pt x="7621547" y="0"/>
                </a:cubicBezTo>
                <a:cubicBezTo>
                  <a:pt x="7825095" y="-7816"/>
                  <a:pt x="7900400" y="-14589"/>
                  <a:pt x="8060102" y="0"/>
                </a:cubicBezTo>
                <a:cubicBezTo>
                  <a:pt x="8219805" y="14589"/>
                  <a:pt x="8284688" y="-9245"/>
                  <a:pt x="8385695" y="0"/>
                </a:cubicBezTo>
                <a:cubicBezTo>
                  <a:pt x="8486702" y="9245"/>
                  <a:pt x="8681376" y="-17285"/>
                  <a:pt x="8937211" y="0"/>
                </a:cubicBezTo>
                <a:cubicBezTo>
                  <a:pt x="9193046" y="17285"/>
                  <a:pt x="9310364" y="-19642"/>
                  <a:pt x="9488727" y="0"/>
                </a:cubicBezTo>
                <a:cubicBezTo>
                  <a:pt x="9667090" y="19642"/>
                  <a:pt x="9899678" y="-37502"/>
                  <a:pt x="10266164" y="0"/>
                </a:cubicBezTo>
                <a:cubicBezTo>
                  <a:pt x="10632650" y="37502"/>
                  <a:pt x="10485569" y="3884"/>
                  <a:pt x="10591758" y="0"/>
                </a:cubicBezTo>
                <a:cubicBezTo>
                  <a:pt x="10697947" y="-3884"/>
                  <a:pt x="11054740" y="31735"/>
                  <a:pt x="11296103" y="0"/>
                </a:cubicBezTo>
                <a:cubicBezTo>
                  <a:pt x="11317451" y="204590"/>
                  <a:pt x="11285369" y="401961"/>
                  <a:pt x="11296103" y="544687"/>
                </a:cubicBezTo>
                <a:cubicBezTo>
                  <a:pt x="11306837" y="687413"/>
                  <a:pt x="11305845" y="1018112"/>
                  <a:pt x="11296103" y="1208940"/>
                </a:cubicBezTo>
                <a:cubicBezTo>
                  <a:pt x="11286361" y="1399768"/>
                  <a:pt x="11292234" y="1646994"/>
                  <a:pt x="11296103" y="1913047"/>
                </a:cubicBezTo>
                <a:cubicBezTo>
                  <a:pt x="11299972" y="2179100"/>
                  <a:pt x="11281909" y="2293414"/>
                  <a:pt x="11296103" y="2457734"/>
                </a:cubicBezTo>
                <a:cubicBezTo>
                  <a:pt x="11310297" y="2622054"/>
                  <a:pt x="11284898" y="2823601"/>
                  <a:pt x="11296103" y="3002421"/>
                </a:cubicBezTo>
                <a:cubicBezTo>
                  <a:pt x="11307308" y="3181241"/>
                  <a:pt x="11307251" y="3646133"/>
                  <a:pt x="11296103" y="3985515"/>
                </a:cubicBezTo>
                <a:cubicBezTo>
                  <a:pt x="11111814" y="3995764"/>
                  <a:pt x="10818419" y="3995480"/>
                  <a:pt x="10518665" y="3985515"/>
                </a:cubicBezTo>
                <a:cubicBezTo>
                  <a:pt x="10218911" y="3975550"/>
                  <a:pt x="10014265" y="4010459"/>
                  <a:pt x="9854189" y="3985515"/>
                </a:cubicBezTo>
                <a:cubicBezTo>
                  <a:pt x="9694113" y="3960571"/>
                  <a:pt x="9202689" y="4023839"/>
                  <a:pt x="8963790" y="3985515"/>
                </a:cubicBezTo>
                <a:cubicBezTo>
                  <a:pt x="8724891" y="3947191"/>
                  <a:pt x="8377604" y="4023813"/>
                  <a:pt x="8186352" y="3985515"/>
                </a:cubicBezTo>
                <a:cubicBezTo>
                  <a:pt x="7995100" y="3947217"/>
                  <a:pt x="7852779" y="3987540"/>
                  <a:pt x="7521876" y="3985515"/>
                </a:cubicBezTo>
                <a:cubicBezTo>
                  <a:pt x="7190973" y="3983490"/>
                  <a:pt x="7251245" y="3967605"/>
                  <a:pt x="7083321" y="3985515"/>
                </a:cubicBezTo>
                <a:cubicBezTo>
                  <a:pt x="6915397" y="4003425"/>
                  <a:pt x="6734444" y="3999795"/>
                  <a:pt x="6644766" y="3985515"/>
                </a:cubicBezTo>
                <a:cubicBezTo>
                  <a:pt x="6555089" y="3971235"/>
                  <a:pt x="6417505" y="3996563"/>
                  <a:pt x="6319173" y="3985515"/>
                </a:cubicBezTo>
                <a:cubicBezTo>
                  <a:pt x="6220841" y="3974467"/>
                  <a:pt x="5767520" y="3956557"/>
                  <a:pt x="5428774" y="3985515"/>
                </a:cubicBezTo>
                <a:cubicBezTo>
                  <a:pt x="5090028" y="4014473"/>
                  <a:pt x="4963593" y="3978038"/>
                  <a:pt x="4651337" y="3985515"/>
                </a:cubicBezTo>
                <a:cubicBezTo>
                  <a:pt x="4339081" y="3992992"/>
                  <a:pt x="4380308" y="3985459"/>
                  <a:pt x="4212782" y="3985515"/>
                </a:cubicBezTo>
                <a:cubicBezTo>
                  <a:pt x="4045257" y="3985571"/>
                  <a:pt x="4049524" y="3975207"/>
                  <a:pt x="3887188" y="3985515"/>
                </a:cubicBezTo>
                <a:cubicBezTo>
                  <a:pt x="3724852" y="3995823"/>
                  <a:pt x="3235556" y="3986478"/>
                  <a:pt x="2996790" y="3985515"/>
                </a:cubicBezTo>
                <a:cubicBezTo>
                  <a:pt x="2758024" y="3984552"/>
                  <a:pt x="2621087" y="3981504"/>
                  <a:pt x="2332313" y="3985515"/>
                </a:cubicBezTo>
                <a:cubicBezTo>
                  <a:pt x="2043539" y="3989526"/>
                  <a:pt x="1868646" y="3966526"/>
                  <a:pt x="1667836" y="3985515"/>
                </a:cubicBezTo>
                <a:cubicBezTo>
                  <a:pt x="1467026" y="4004504"/>
                  <a:pt x="1352377" y="3964892"/>
                  <a:pt x="1116321" y="3985515"/>
                </a:cubicBezTo>
                <a:cubicBezTo>
                  <a:pt x="880266" y="4006138"/>
                  <a:pt x="294747" y="3979535"/>
                  <a:pt x="0" y="3985515"/>
                </a:cubicBezTo>
                <a:cubicBezTo>
                  <a:pt x="22885" y="3774420"/>
                  <a:pt x="-25373" y="3678205"/>
                  <a:pt x="0" y="3440828"/>
                </a:cubicBezTo>
                <a:cubicBezTo>
                  <a:pt x="25373" y="3203451"/>
                  <a:pt x="16276" y="3065634"/>
                  <a:pt x="0" y="2896141"/>
                </a:cubicBezTo>
                <a:cubicBezTo>
                  <a:pt x="-16276" y="2726648"/>
                  <a:pt x="6779" y="2400891"/>
                  <a:pt x="0" y="2192033"/>
                </a:cubicBezTo>
                <a:cubicBezTo>
                  <a:pt x="-6779" y="1983175"/>
                  <a:pt x="-12093" y="1892218"/>
                  <a:pt x="0" y="1607491"/>
                </a:cubicBezTo>
                <a:cubicBezTo>
                  <a:pt x="12093" y="1322764"/>
                  <a:pt x="-22162" y="1182409"/>
                  <a:pt x="0" y="1062804"/>
                </a:cubicBezTo>
                <a:cubicBezTo>
                  <a:pt x="22162" y="943199"/>
                  <a:pt x="-42722" y="486443"/>
                  <a:pt x="0" y="0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57150">
            <a:solidFill>
              <a:schemeClr val="accent6">
                <a:lumMod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2606772867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pPr lvl="1" algn="ctr">
              <a:lnSpc>
                <a:spcPct val="120000"/>
              </a:lnSpc>
            </a:pPr>
            <a:r>
              <a:rPr lang="ko-KR" altLang="en-US" sz="24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카테고리 및 도구 예시</a:t>
            </a:r>
            <a:r>
              <a:rPr lang="en-GB" altLang="ko-KR" sz="24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 (</a:t>
            </a:r>
            <a:r>
              <a:rPr lang="ko-KR" altLang="en-US" sz="24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참조용</a:t>
            </a:r>
            <a:r>
              <a:rPr lang="en-GB" altLang="ko-KR" sz="2400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)</a:t>
            </a:r>
            <a:endParaRPr lang="en-US" altLang="ko-KR" sz="2000" dirty="0">
              <a:latin typeface="Adobe 고딕 Std B" panose="020B0800000000000000" pitchFamily="34" charset="-127"/>
              <a:ea typeface="Adobe 고딕 Std B" panose="020B0800000000000000" pitchFamily="34" charset="-127"/>
            </a:endParaRPr>
          </a:p>
          <a:p>
            <a:pPr lvl="1">
              <a:lnSpc>
                <a:spcPct val="120000"/>
              </a:lnSpc>
            </a:pPr>
            <a:r>
              <a:rPr lang="ko-KR" altLang="en-US" sz="2000" b="1" dirty="0"/>
              <a:t>프로젝트 관리</a:t>
            </a:r>
            <a:endParaRPr lang="en-GB" altLang="ko-KR" sz="2000" b="1" dirty="0"/>
          </a:p>
          <a:p>
            <a:pPr marL="1371600" lvl="2" indent="-457200">
              <a:lnSpc>
                <a:spcPct val="120000"/>
              </a:lnSpc>
              <a:buFont typeface="+mj-lt"/>
              <a:buAutoNum type="arabicPeriod"/>
            </a:pPr>
            <a:r>
              <a:rPr lang="ko-KR" altLang="en-US" sz="1600" b="1" dirty="0"/>
              <a:t>협업</a:t>
            </a:r>
            <a:r>
              <a:rPr lang="en-GB" altLang="ko-KR" sz="1600" b="1" dirty="0"/>
              <a:t> : </a:t>
            </a:r>
            <a:r>
              <a:rPr lang="en-US" altLang="ko-KR" sz="1600" dirty="0"/>
              <a:t>Slack </a:t>
            </a:r>
            <a:r>
              <a:rPr lang="en-US" altLang="ko-KR" sz="1600" dirty="0" err="1"/>
              <a:t>GPT</a:t>
            </a:r>
            <a:r>
              <a:rPr lang="en-US" altLang="ko-KR" sz="1600" dirty="0"/>
              <a:t>, Microsoft Teams Copilot, </a:t>
            </a:r>
            <a:r>
              <a:rPr lang="en-GB" sz="1600" dirty="0"/>
              <a:t>Zoom AI Companion</a:t>
            </a:r>
            <a:endParaRPr lang="en-GB" altLang="ko-KR" sz="1600" b="1" dirty="0"/>
          </a:p>
          <a:p>
            <a:pPr marL="1371600" lvl="2" indent="-457200">
              <a:lnSpc>
                <a:spcPct val="120000"/>
              </a:lnSpc>
              <a:buFont typeface="+mj-lt"/>
              <a:buAutoNum type="arabicPeriod"/>
            </a:pPr>
            <a:r>
              <a:rPr lang="ko-KR" altLang="en-US" sz="1600" b="1" dirty="0"/>
              <a:t>프로젝트관리</a:t>
            </a:r>
            <a:r>
              <a:rPr lang="en-GB" altLang="ko-KR" sz="1600" b="1" dirty="0"/>
              <a:t> (</a:t>
            </a:r>
            <a:r>
              <a:rPr lang="ko-KR" altLang="en-US" sz="1600" b="1" dirty="0"/>
              <a:t>일정</a:t>
            </a:r>
            <a:r>
              <a:rPr lang="en-GB" altLang="ko-KR" sz="1600" b="1" dirty="0"/>
              <a:t>,</a:t>
            </a:r>
            <a:r>
              <a:rPr lang="ko-KR" altLang="en-US" sz="1600" b="1" dirty="0"/>
              <a:t>이슈</a:t>
            </a:r>
            <a:r>
              <a:rPr lang="en-GB" altLang="ko-KR" sz="1600" b="1" dirty="0"/>
              <a:t>/</a:t>
            </a:r>
            <a:r>
              <a:rPr lang="ko-KR" altLang="en-US" sz="1600" b="1" dirty="0"/>
              <a:t>결함 관리 포함</a:t>
            </a:r>
            <a:r>
              <a:rPr lang="en-GB" altLang="ko-KR" sz="1600" b="1" dirty="0"/>
              <a:t>)</a:t>
            </a:r>
            <a:r>
              <a:rPr lang="en-US" altLang="ko-KR" sz="1600" b="1" dirty="0"/>
              <a:t> </a:t>
            </a:r>
            <a:r>
              <a:rPr lang="en-US" altLang="ko-KR" sz="1600" dirty="0"/>
              <a:t>: Notion AI, Trello AI, Jira/confluence (</a:t>
            </a:r>
            <a:r>
              <a:rPr lang="en-GB" sz="1600" dirty="0"/>
              <a:t>Atlassian Intelligence)</a:t>
            </a:r>
            <a:r>
              <a:rPr lang="en-US" altLang="ko-KR" sz="1600" dirty="0"/>
              <a:t> </a:t>
            </a:r>
            <a:r>
              <a:rPr lang="ko-KR" altLang="en-US" sz="1600" dirty="0"/>
              <a:t>등</a:t>
            </a:r>
            <a:endParaRPr lang="en-US" altLang="ko-KR" sz="1600" dirty="0"/>
          </a:p>
          <a:p>
            <a:pPr lvl="1">
              <a:lnSpc>
                <a:spcPct val="120000"/>
              </a:lnSpc>
            </a:pPr>
            <a:r>
              <a:rPr lang="ko-KR" altLang="en-US" sz="2000" b="1" dirty="0"/>
              <a:t>개발</a:t>
            </a:r>
            <a:endParaRPr lang="en-GB" altLang="ko-KR" sz="2000" b="1" dirty="0"/>
          </a:p>
          <a:p>
            <a:pPr marL="1371600" lvl="2" indent="-457200">
              <a:lnSpc>
                <a:spcPct val="120000"/>
              </a:lnSpc>
              <a:buFont typeface="+mj-lt"/>
              <a:buAutoNum type="arabicPeriod" startAt="3"/>
            </a:pPr>
            <a:r>
              <a:rPr lang="ko-KR" altLang="en-US" sz="1600" b="1" dirty="0"/>
              <a:t>정적 코드분석</a:t>
            </a:r>
            <a:r>
              <a:rPr lang="en-GB" altLang="ko-KR" sz="1600" b="1" dirty="0"/>
              <a:t>: </a:t>
            </a:r>
            <a:r>
              <a:rPr lang="en-US" altLang="ko-KR" sz="1600" b="1" dirty="0"/>
              <a:t>SonarQube, Coverity (Prevent), </a:t>
            </a:r>
            <a:r>
              <a:rPr lang="en-US" altLang="ko-KR" sz="1600" b="1" dirty="0" err="1"/>
              <a:t>Klockwork</a:t>
            </a:r>
            <a:r>
              <a:rPr lang="en-US" altLang="ko-KR" sz="1600" b="1" dirty="0"/>
              <a:t> </a:t>
            </a:r>
            <a:r>
              <a:rPr lang="ko-KR" altLang="en-US" sz="1600" b="1" dirty="0"/>
              <a:t>등</a:t>
            </a:r>
            <a:endParaRPr lang="en-US" altLang="ko-KR" sz="1600" b="1" dirty="0"/>
          </a:p>
          <a:p>
            <a:pPr marL="1371600" lvl="2" indent="-457200">
              <a:lnSpc>
                <a:spcPct val="120000"/>
              </a:lnSpc>
              <a:buFont typeface="+mj-lt"/>
              <a:buAutoNum type="arabicPeriod" startAt="3"/>
            </a:pPr>
            <a:r>
              <a:rPr lang="ko-KR" altLang="en-US" sz="1600" b="1" dirty="0"/>
              <a:t>코드 검토</a:t>
            </a:r>
            <a:r>
              <a:rPr lang="en-GB" altLang="ko-KR" sz="1600" b="1" dirty="0"/>
              <a:t>(REVIEW)</a:t>
            </a:r>
            <a:r>
              <a:rPr lang="en-US" altLang="ko-KR" sz="1600" b="1" dirty="0"/>
              <a:t>:  GitLab, MS GitHub Action, Google Gerrit, Atlassian Crucible, AWS </a:t>
            </a:r>
            <a:r>
              <a:rPr lang="en-US" altLang="ko-KR" sz="1600" b="1" dirty="0" err="1"/>
              <a:t>CodeGuru</a:t>
            </a:r>
            <a:r>
              <a:rPr lang="en-US" altLang="ko-KR" sz="1600" b="1" dirty="0"/>
              <a:t> Reviewer </a:t>
            </a:r>
            <a:r>
              <a:rPr lang="ko-KR" altLang="en-US" sz="1600" b="1" dirty="0"/>
              <a:t>등</a:t>
            </a:r>
            <a:endParaRPr lang="en-GB" altLang="ko-KR" sz="1600" b="1" dirty="0"/>
          </a:p>
          <a:p>
            <a:pPr marL="1371600" lvl="2" indent="-457200">
              <a:lnSpc>
                <a:spcPct val="120000"/>
              </a:lnSpc>
              <a:buFont typeface="+mj-lt"/>
              <a:buAutoNum type="arabicPeriod" startAt="3"/>
            </a:pPr>
            <a:r>
              <a:rPr lang="ko-KR" altLang="en-US" sz="1600" b="1" dirty="0"/>
              <a:t>동적 테스팅</a:t>
            </a:r>
            <a:r>
              <a:rPr lang="en-GB" altLang="ko-KR" sz="1600" b="1" dirty="0"/>
              <a:t>:</a:t>
            </a:r>
            <a:r>
              <a:rPr lang="ko-KR" altLang="en-US" sz="1600" b="1" dirty="0"/>
              <a:t> </a:t>
            </a:r>
            <a:r>
              <a:rPr lang="en-GB" altLang="ko-KR" sz="1600" b="1" dirty="0"/>
              <a:t>Copilot (MS), </a:t>
            </a:r>
            <a:r>
              <a:rPr lang="en-GB" altLang="ko-KR" sz="1600" b="1" dirty="0" err="1"/>
              <a:t>CodeWisper</a:t>
            </a:r>
            <a:r>
              <a:rPr lang="en-GB" altLang="ko-KR" sz="1600" b="1" dirty="0"/>
              <a:t>(AWS), </a:t>
            </a:r>
            <a:r>
              <a:rPr lang="en-GB" sz="1600" b="1" i="0" dirty="0" err="1">
                <a:effectLst/>
                <a:latin typeface="__fkGroteskNeue_598ab8"/>
              </a:rPr>
              <a:t>TestGen</a:t>
            </a:r>
            <a:r>
              <a:rPr lang="en-GB" sz="1600" b="1" i="0" dirty="0">
                <a:effectLst/>
                <a:latin typeface="__fkGroteskNeue_598ab8"/>
              </a:rPr>
              <a:t>-LLM (Meta), Junit/Selenium + </a:t>
            </a:r>
            <a:r>
              <a:rPr lang="en-GB" sz="1600" b="1" i="0" dirty="0" err="1">
                <a:effectLst/>
                <a:latin typeface="__fkGroteskNeue_598ab8"/>
              </a:rPr>
              <a:t>Parasoft</a:t>
            </a:r>
            <a:r>
              <a:rPr lang="en-GB" sz="1600" b="1" i="0" dirty="0">
                <a:effectLst/>
                <a:latin typeface="__fkGroteskNeue_598ab8"/>
              </a:rPr>
              <a:t> AI  </a:t>
            </a:r>
            <a:r>
              <a:rPr lang="ko-KR" altLang="en-US" sz="1600" b="1" i="0" dirty="0">
                <a:effectLst/>
                <a:latin typeface="__fkGroteskNeue_598ab8"/>
              </a:rPr>
              <a:t>등</a:t>
            </a:r>
            <a:endParaRPr lang="en-GB" altLang="ko-KR" sz="1600" b="1" dirty="0"/>
          </a:p>
          <a:p>
            <a:pPr marL="1371600" lvl="2" indent="-457200">
              <a:lnSpc>
                <a:spcPct val="120000"/>
              </a:lnSpc>
              <a:buFont typeface="+mj-lt"/>
              <a:buAutoNum type="arabicPeriod" startAt="3"/>
            </a:pPr>
            <a:r>
              <a:rPr lang="ko-KR" altLang="en-US" sz="1600" dirty="0"/>
              <a:t>문서화</a:t>
            </a:r>
            <a:r>
              <a:rPr lang="en-GB" altLang="ko-KR" sz="1600" dirty="0"/>
              <a:t> (API </a:t>
            </a:r>
            <a:r>
              <a:rPr lang="ko-KR" altLang="en-US" sz="1600" dirty="0"/>
              <a:t>문서 생성</a:t>
            </a:r>
            <a:r>
              <a:rPr lang="en-GB" altLang="ko-KR" sz="1600" dirty="0"/>
              <a:t>, code</a:t>
            </a:r>
            <a:r>
              <a:rPr lang="ko-KR" altLang="en-US" sz="1600" dirty="0"/>
              <a:t>로부터 모델 문서 생성 등</a:t>
            </a:r>
            <a:r>
              <a:rPr lang="en-GB" altLang="ko-KR" sz="1600" dirty="0"/>
              <a:t>): </a:t>
            </a:r>
            <a:r>
              <a:rPr lang="en-GB" sz="1600" dirty="0" err="1"/>
              <a:t>Mintlify</a:t>
            </a:r>
            <a:r>
              <a:rPr lang="en-GB" sz="1600" dirty="0"/>
              <a:t>, Windsurf(Codium) </a:t>
            </a:r>
            <a:r>
              <a:rPr lang="ko-KR" altLang="en-US" sz="1600" dirty="0"/>
              <a:t>등 </a:t>
            </a:r>
            <a:endParaRPr lang="en-US" altLang="ko-KR" sz="1600" dirty="0"/>
          </a:p>
          <a:p>
            <a:pPr lvl="1">
              <a:lnSpc>
                <a:spcPct val="120000"/>
              </a:lnSpc>
            </a:pPr>
            <a:r>
              <a:rPr lang="ko-KR" altLang="en-US" sz="2000" b="1" dirty="0"/>
              <a:t>빌드</a:t>
            </a:r>
            <a:r>
              <a:rPr lang="en-GB" altLang="ko-KR" sz="2000" b="1" dirty="0"/>
              <a:t>/</a:t>
            </a:r>
            <a:r>
              <a:rPr lang="ko-KR" altLang="en-US" sz="2000" b="1" dirty="0"/>
              <a:t>배포</a:t>
            </a:r>
            <a:r>
              <a:rPr lang="en-GB" altLang="ko-KR" sz="2000" b="1" dirty="0"/>
              <a:t>/</a:t>
            </a:r>
            <a:r>
              <a:rPr lang="ko-KR" altLang="en-US" sz="2000" b="1" dirty="0"/>
              <a:t>운영</a:t>
            </a:r>
            <a:endParaRPr lang="en-GB" altLang="ko-KR" sz="2000" b="1" dirty="0"/>
          </a:p>
          <a:p>
            <a:pPr marL="1371600" lvl="2" indent="-457200">
              <a:lnSpc>
                <a:spcPct val="120000"/>
              </a:lnSpc>
              <a:buFont typeface="+mj-lt"/>
              <a:buAutoNum type="arabicPeriod" startAt="7"/>
            </a:pPr>
            <a:r>
              <a:rPr lang="ko-KR" altLang="en-US" sz="1600" b="1" dirty="0"/>
              <a:t>형상관리 포함한 빌드</a:t>
            </a:r>
            <a:r>
              <a:rPr lang="en-GB" altLang="ko-KR" sz="1600" b="1" dirty="0"/>
              <a:t>/</a:t>
            </a:r>
            <a:r>
              <a:rPr lang="ko-KR" altLang="en-US" sz="1600" b="1" dirty="0"/>
              <a:t>배포 </a:t>
            </a:r>
            <a:r>
              <a:rPr lang="en-GB" altLang="ko-KR" sz="1600" b="1" dirty="0"/>
              <a:t>(</a:t>
            </a:r>
            <a:r>
              <a:rPr lang="en-US" altLang="ko-KR" sz="1600" b="1" dirty="0"/>
              <a:t>CI/CD):</a:t>
            </a:r>
            <a:r>
              <a:rPr lang="en-GB" altLang="ko-KR" sz="1600" dirty="0"/>
              <a:t> GitLab, </a:t>
            </a:r>
            <a:r>
              <a:rPr lang="en-GB" sz="1600" dirty="0"/>
              <a:t>Jenkins, </a:t>
            </a:r>
            <a:r>
              <a:rPr lang="en-GB" altLang="ko-KR" sz="1600" dirty="0"/>
              <a:t>MS Azure </a:t>
            </a:r>
            <a:r>
              <a:rPr lang="en-GB" altLang="ko-KR" sz="1600" dirty="0" err="1"/>
              <a:t>devops</a:t>
            </a:r>
            <a:r>
              <a:rPr lang="en-GB" altLang="ko-KR" sz="1600" dirty="0"/>
              <a:t>, GitHub Action,</a:t>
            </a:r>
            <a:r>
              <a:rPr lang="ko-KR" altLang="en-US" sz="1600" dirty="0"/>
              <a:t> </a:t>
            </a:r>
            <a:r>
              <a:rPr lang="en-GB" sz="1600" dirty="0"/>
              <a:t>AWS </a:t>
            </a:r>
            <a:r>
              <a:rPr lang="en-GB" sz="1600" dirty="0" err="1"/>
              <a:t>CodePipeline</a:t>
            </a:r>
            <a:r>
              <a:rPr lang="en-GB" sz="1600" dirty="0"/>
              <a:t> </a:t>
            </a:r>
          </a:p>
          <a:p>
            <a:pPr marL="1371600" lvl="2" indent="-457200">
              <a:lnSpc>
                <a:spcPct val="120000"/>
              </a:lnSpc>
              <a:buFont typeface="+mj-lt"/>
              <a:buAutoNum type="arabicPeriod" startAt="7"/>
            </a:pPr>
            <a:r>
              <a:rPr lang="ko-KR" altLang="en-US" sz="1600" b="1" dirty="0"/>
              <a:t>배포 후 모니터링 </a:t>
            </a:r>
            <a:r>
              <a:rPr lang="en-US" altLang="ko-KR" sz="1600" dirty="0"/>
              <a:t>: </a:t>
            </a:r>
            <a:r>
              <a:rPr lang="en-GB" altLang="ko-KR" sz="1600" dirty="0"/>
              <a:t>MS Azure Monitor, AWS</a:t>
            </a:r>
            <a:r>
              <a:rPr lang="ko-KR" altLang="en-US" sz="1600" dirty="0"/>
              <a:t> </a:t>
            </a:r>
            <a:r>
              <a:rPr lang="en-GB" altLang="ko-KR" sz="1600" dirty="0" err="1"/>
              <a:t>devops</a:t>
            </a:r>
            <a:r>
              <a:rPr lang="en-GB" altLang="ko-KR" sz="1600" dirty="0"/>
              <a:t>, Grafana, Prometheus, Atlassian, ELK, Dynatrace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AE662D-9257-0ED0-EE31-3DDFA42CE866}"/>
              </a:ext>
            </a:extLst>
          </p:cNvPr>
          <p:cNvSpPr txBox="1"/>
          <p:nvPr/>
        </p:nvSpPr>
        <p:spPr>
          <a:xfrm>
            <a:off x="3649853" y="6205054"/>
            <a:ext cx="61165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hlinkClick r:id="rId3"/>
              </a:rPr>
              <a:t>https://</a:t>
            </a:r>
            <a:r>
              <a:rPr lang="en-GB" dirty="0" err="1">
                <a:hlinkClick r:id="rId3"/>
              </a:rPr>
              <a:t>www.edunet.net</a:t>
            </a:r>
            <a:r>
              <a:rPr lang="en-GB" dirty="0">
                <a:hlinkClick r:id="rId3"/>
              </a:rPr>
              <a:t>/html/</a:t>
            </a:r>
            <a:r>
              <a:rPr lang="en-GB" dirty="0" err="1">
                <a:hlinkClick r:id="rId3"/>
              </a:rPr>
              <a:t>myedusvc</a:t>
            </a:r>
            <a:r>
              <a:rPr lang="en-GB" dirty="0">
                <a:hlinkClick r:id="rId3"/>
              </a:rPr>
              <a:t>/</a:t>
            </a:r>
            <a:r>
              <a:rPr lang="en-GB" dirty="0" err="1">
                <a:hlinkClick r:id="rId3"/>
              </a:rPr>
              <a:t>ladder.html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006729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36B296-8AE3-9542-ED21-3F6F07D81A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805B85-D157-5779-4553-0E78871EC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FF0000"/>
                </a:solidFill>
              </a:rPr>
              <a:t>참고</a:t>
            </a:r>
            <a:r>
              <a:rPr lang="en-GB" altLang="ko-KR" dirty="0">
                <a:solidFill>
                  <a:srgbClr val="FF0000"/>
                </a:solidFill>
              </a:rPr>
              <a:t>. CI/CD </a:t>
            </a:r>
            <a:r>
              <a:rPr lang="en-GB" altLang="ko-KR" sz="2800" dirty="0">
                <a:solidFill>
                  <a:srgbClr val="FF0000"/>
                </a:solidFill>
              </a:rPr>
              <a:t>(Continuous Integration/Continuous Delivery)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68B28FF-8EAB-F3BF-3C2A-4A239DFFA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8B1FF-3FA7-3E47-A553-4A4DADC36665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3F2DA4-3630-D9B1-C158-857FEB22DF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6849" y="1090577"/>
            <a:ext cx="10059868" cy="5410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84195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4AA792-4838-E5B8-DEA1-A7B48139C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참고</a:t>
            </a:r>
            <a:r>
              <a:rPr lang="en-GB" altLang="ko-KR" dirty="0"/>
              <a:t>. </a:t>
            </a:r>
            <a:r>
              <a:rPr lang="en-GB" dirty="0"/>
              <a:t>DevOps </a:t>
            </a:r>
            <a:r>
              <a:rPr lang="ko-KR" altLang="en-US" dirty="0"/>
              <a:t>툴 체인 </a:t>
            </a:r>
            <a:endParaRPr lang="en-GB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DED2BE-CBDB-7FFB-1487-76A486449D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22EFEAA-C031-EBA1-C249-227C2604D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6786" y="6545052"/>
            <a:ext cx="489284" cy="168703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400" kern="1200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48B1FF-3FA7-3E47-A553-4A4DADC36665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10F1D54-D5BC-C69D-8464-61B528168C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1863" y="1172391"/>
            <a:ext cx="9108274" cy="507855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C2E3BBE-8D63-1A8C-9F22-9B40D9C742C1}"/>
              </a:ext>
            </a:extLst>
          </p:cNvPr>
          <p:cNvSpPr txBox="1"/>
          <p:nvPr/>
        </p:nvSpPr>
        <p:spPr>
          <a:xfrm>
            <a:off x="1111316" y="6352404"/>
            <a:ext cx="1039481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/>
              <a:t>https://medium.com/cloud-native-daily/the-ultimate-guide-to-the-top-devops-tools-you-need-to-know-exploring-the-top-devops-tools-11e5f8aa9686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05AAF6-8330-F260-F553-2AE8C85A3FAC}"/>
              </a:ext>
            </a:extLst>
          </p:cNvPr>
          <p:cNvSpPr txBox="1"/>
          <p:nvPr/>
        </p:nvSpPr>
        <p:spPr>
          <a:xfrm>
            <a:off x="4041942" y="3630050"/>
            <a:ext cx="392056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b="1" dirty="0">
                <a:highlight>
                  <a:srgbClr val="FFFF00"/>
                </a:highlight>
              </a:rPr>
              <a:t>Platform Engineering </a:t>
            </a:r>
            <a:r>
              <a:rPr lang="ko-KR" altLang="en-US" sz="2000" b="1" dirty="0">
                <a:highlight>
                  <a:srgbClr val="FFFF00"/>
                </a:highlight>
              </a:rPr>
              <a:t>팀 필요</a:t>
            </a:r>
            <a:endParaRPr lang="en-GB" sz="20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3873872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55C3F6-B1EE-3A4A-E50F-1B95BBDE8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참고</a:t>
            </a:r>
            <a:r>
              <a:rPr lang="en-GB" altLang="ko-KR" dirty="0"/>
              <a:t>. AI-</a:t>
            </a:r>
            <a:r>
              <a:rPr lang="ko-KR" altLang="en-US" dirty="0"/>
              <a:t>증강 </a:t>
            </a:r>
            <a:r>
              <a:rPr lang="en-GB" altLang="ko-KR" dirty="0"/>
              <a:t>DevOps</a:t>
            </a:r>
            <a:r>
              <a:rPr lang="ko-KR" altLang="en-US" dirty="0"/>
              <a:t>를 위한 세가지 접근 방식</a:t>
            </a:r>
            <a:endParaRPr lang="en-GB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E766A76-E12B-53A0-1566-8B79A728B3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ko-KR" altLang="en-US" b="1" i="0" dirty="0">
                <a:effectLst/>
                <a:latin typeface="Noto Sans" panose="020B0502040504020204" pitchFamily="34" charset="0"/>
              </a:rPr>
              <a:t>개발자 경험</a:t>
            </a:r>
            <a:r>
              <a:rPr lang="en-GB" altLang="ko-KR" b="1" i="0" dirty="0">
                <a:effectLst/>
                <a:latin typeface="Noto Sans" panose="020B0502040504020204" pitchFamily="34" charset="0"/>
              </a:rPr>
              <a:t>(</a:t>
            </a:r>
            <a:r>
              <a:rPr lang="en-GB" altLang="ko-KR" b="1" dirty="0">
                <a:latin typeface="Noto Sans" panose="020B0502040504020204" pitchFamily="34" charset="0"/>
              </a:rPr>
              <a:t>DX)</a:t>
            </a:r>
            <a:r>
              <a:rPr lang="ko-KR" altLang="en-US" b="1" i="0" dirty="0">
                <a:effectLst/>
                <a:latin typeface="Noto Sans" panose="020B0502040504020204" pitchFamily="34" charset="0"/>
              </a:rPr>
              <a:t> 개선</a:t>
            </a:r>
            <a:r>
              <a:rPr lang="en-US" altLang="ko-KR" b="0" i="0" dirty="0">
                <a:effectLst/>
                <a:latin typeface="Noto Sans" panose="020B0502040504020204" pitchFamily="34" charset="0"/>
              </a:rPr>
              <a:t>: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ko-KR" altLang="en-US" b="0" i="0" dirty="0">
                <a:effectLst/>
                <a:latin typeface="Noto Sans" panose="020B0502040504020204" pitchFamily="34" charset="0"/>
              </a:rPr>
              <a:t>코드 생성</a:t>
            </a:r>
            <a:r>
              <a:rPr lang="en-US" altLang="ko-KR" b="0" i="0" dirty="0">
                <a:effectLst/>
                <a:latin typeface="Noto Sans" panose="020B0502040504020204" pitchFamily="34" charset="0"/>
              </a:rPr>
              <a:t>, </a:t>
            </a:r>
            <a:r>
              <a:rPr lang="ko-KR" altLang="en-US" b="0" i="0" dirty="0">
                <a:effectLst/>
                <a:latin typeface="Noto Sans" panose="020B0502040504020204" pitchFamily="34" charset="0"/>
              </a:rPr>
              <a:t>설명</a:t>
            </a:r>
            <a:r>
              <a:rPr lang="en-US" altLang="ko-KR" b="0" i="0" dirty="0">
                <a:effectLst/>
                <a:latin typeface="Noto Sans" panose="020B0502040504020204" pitchFamily="34" charset="0"/>
              </a:rPr>
              <a:t>, </a:t>
            </a:r>
            <a:r>
              <a:rPr lang="ko-KR" altLang="en-US" b="0" i="0" dirty="0">
                <a:effectLst/>
                <a:latin typeface="Noto Sans" panose="020B0502040504020204" pitchFamily="34" charset="0"/>
              </a:rPr>
              <a:t>디버깅</a:t>
            </a:r>
            <a:r>
              <a:rPr lang="en-US" altLang="ko-KR" b="0" i="0" dirty="0">
                <a:effectLst/>
                <a:latin typeface="Noto Sans" panose="020B0502040504020204" pitchFamily="34" charset="0"/>
              </a:rPr>
              <a:t>, </a:t>
            </a:r>
            <a:r>
              <a:rPr lang="ko-KR" altLang="en-US" b="0" i="0" dirty="0">
                <a:effectLst/>
                <a:latin typeface="Noto Sans" panose="020B0502040504020204" pitchFamily="34" charset="0"/>
              </a:rPr>
              <a:t>코드 변환 및 리뷰 수행</a:t>
            </a:r>
            <a:endParaRPr lang="en-US" altLang="ko-KR" b="0" i="0" dirty="0">
              <a:effectLst/>
              <a:latin typeface="Noto Sans" panose="020B0502040504020204" pitchFamily="34" charset="0"/>
            </a:endParaRP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ko-KR" altLang="en-US" b="0" i="0" dirty="0">
                <a:effectLst/>
                <a:latin typeface="Noto Sans" panose="020B0502040504020204" pitchFamily="34" charset="0"/>
              </a:rPr>
              <a:t>자연어를 사용하여 운영 데이터를 분석</a:t>
            </a:r>
            <a:endParaRPr lang="en-US" altLang="ko-KR" b="0" i="0" dirty="0">
              <a:effectLst/>
              <a:latin typeface="Noto Sans" panose="020B0502040504020204" pitchFamily="34" charset="0"/>
            </a:endParaRP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ko-KR" altLang="en-US" b="0" i="0" dirty="0">
                <a:effectLst/>
                <a:latin typeface="Noto Sans" panose="020B0502040504020204" pitchFamily="34" charset="0"/>
              </a:rPr>
              <a:t>풀 </a:t>
            </a:r>
            <a:r>
              <a:rPr lang="ko-KR" altLang="en-US" b="0" i="0" dirty="0" err="1">
                <a:effectLst/>
                <a:latin typeface="Noto Sans" panose="020B0502040504020204" pitchFamily="34" charset="0"/>
              </a:rPr>
              <a:t>리퀘스트</a:t>
            </a:r>
            <a:r>
              <a:rPr lang="ko-KR" altLang="en-US" b="0" i="0" dirty="0">
                <a:effectLst/>
                <a:latin typeface="Noto Sans" panose="020B0502040504020204" pitchFamily="34" charset="0"/>
              </a:rPr>
              <a:t> 변경 사항을 요약</a:t>
            </a:r>
            <a:endParaRPr lang="en-US" altLang="ko-KR" b="0" i="0" dirty="0">
              <a:effectLst/>
              <a:latin typeface="Noto Sans" panose="020B0502040504020204" pitchFamily="34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ko-KR" altLang="en-US" b="1" i="0" dirty="0">
                <a:effectLst/>
                <a:latin typeface="Noto Sans" panose="020B0502040504020204" pitchFamily="34" charset="0"/>
              </a:rPr>
              <a:t>소프트웨어 전달 효율성 증대</a:t>
            </a:r>
            <a:r>
              <a:rPr lang="en-US" altLang="ko-KR" b="0" i="0" dirty="0">
                <a:effectLst/>
                <a:latin typeface="Noto Sans" panose="020B0502040504020204" pitchFamily="34" charset="0"/>
              </a:rPr>
              <a:t>: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ko-KR" altLang="en-US" b="0" i="0" dirty="0">
                <a:effectLst/>
                <a:latin typeface="Noto Sans" panose="020B0502040504020204" pitchFamily="34" charset="0"/>
              </a:rPr>
              <a:t>빌드 파이프라인 오류 자동 해결</a:t>
            </a:r>
            <a:r>
              <a:rPr lang="en-GB" altLang="ko-KR" b="0" i="0" dirty="0">
                <a:effectLst/>
                <a:latin typeface="Noto Sans" panose="020B0502040504020204" pitchFamily="34" charset="0"/>
              </a:rPr>
              <a:t>(Auto resolve)</a:t>
            </a:r>
            <a:endParaRPr lang="en-US" altLang="ko-KR" b="0" i="0" dirty="0">
              <a:effectLst/>
              <a:latin typeface="Noto Sans" panose="020B0502040504020204" pitchFamily="34" charset="0"/>
            </a:endParaRP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ko-KR" altLang="en-US" b="0" i="0" dirty="0">
                <a:effectLst/>
                <a:latin typeface="Noto Sans" panose="020B0502040504020204" pitchFamily="34" charset="0"/>
              </a:rPr>
              <a:t>테스트 영향 분석을 통해 빌드 시간을 단축</a:t>
            </a:r>
            <a:endParaRPr lang="en-US" altLang="ko-KR" b="0" i="0" dirty="0">
              <a:effectLst/>
              <a:latin typeface="Noto Sans" panose="020B0502040504020204" pitchFamily="34" charset="0"/>
            </a:endParaRP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ko-KR" altLang="en-US" b="0" i="0" dirty="0">
                <a:effectLst/>
                <a:latin typeface="Noto Sans" panose="020B0502040504020204" pitchFamily="34" charset="0"/>
              </a:rPr>
              <a:t>변경 영향 분석</a:t>
            </a:r>
            <a:r>
              <a:rPr lang="en-US" altLang="ko-KR" b="0" i="0" dirty="0">
                <a:effectLst/>
                <a:latin typeface="Noto Sans" panose="020B0502040504020204" pitchFamily="34" charset="0"/>
              </a:rPr>
              <a:t>, </a:t>
            </a:r>
            <a:r>
              <a:rPr lang="ko-KR" altLang="en-US" b="0" i="0" dirty="0">
                <a:effectLst/>
                <a:latin typeface="Noto Sans" panose="020B0502040504020204" pitchFamily="34" charset="0"/>
              </a:rPr>
              <a:t>변경 위험 예측</a:t>
            </a:r>
            <a:r>
              <a:rPr lang="en-US" altLang="ko-KR" b="0" i="0" dirty="0">
                <a:effectLst/>
                <a:latin typeface="Noto Sans" panose="020B0502040504020204" pitchFamily="34" charset="0"/>
              </a:rPr>
              <a:t>, </a:t>
            </a:r>
            <a:r>
              <a:rPr lang="ko-KR" altLang="en-US" b="0" i="0" dirty="0">
                <a:effectLst/>
                <a:latin typeface="Noto Sans" panose="020B0502040504020204" pitchFamily="34" charset="0"/>
              </a:rPr>
              <a:t>이벤트 상관 관계 분석 수행</a:t>
            </a:r>
            <a:endParaRPr lang="en-US" altLang="ko-KR" b="0" i="0" dirty="0">
              <a:effectLst/>
              <a:latin typeface="Noto Sans" panose="020B0502040504020204" pitchFamily="34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ko-KR" altLang="en-US" b="1" i="0" dirty="0">
                <a:effectLst/>
                <a:latin typeface="Noto Sans" panose="020B0502040504020204" pitchFamily="34" charset="0"/>
              </a:rPr>
              <a:t>소프트웨어 전달 인프라 최적화</a:t>
            </a:r>
            <a:r>
              <a:rPr lang="en-US" altLang="ko-KR" b="0" i="0" dirty="0">
                <a:effectLst/>
                <a:latin typeface="Noto Sans" panose="020B0502040504020204" pitchFamily="34" charset="0"/>
              </a:rPr>
              <a:t>: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ko-KR" altLang="en-US" b="0" i="0" dirty="0">
                <a:effectLst/>
                <a:latin typeface="Noto Sans" panose="020B0502040504020204" pitchFamily="34" charset="0"/>
              </a:rPr>
              <a:t>예측된 수요에 따라 자동 스케일링</a:t>
            </a:r>
            <a:r>
              <a:rPr lang="en-GB" altLang="ko-KR" b="0" i="0" dirty="0">
                <a:effectLst/>
                <a:latin typeface="Noto Sans" panose="020B0502040504020204" pitchFamily="34" charset="0"/>
              </a:rPr>
              <a:t>(Auto scaling)</a:t>
            </a:r>
            <a:endParaRPr lang="en-US" altLang="ko-KR" b="0" i="0" dirty="0">
              <a:effectLst/>
              <a:latin typeface="Noto Sans" panose="020B0502040504020204" pitchFamily="34" charset="0"/>
            </a:endParaRP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ko-KR" altLang="en-US" b="0" i="0" dirty="0">
                <a:effectLst/>
                <a:latin typeface="Noto Sans" panose="020B0502040504020204" pitchFamily="34" charset="0"/>
              </a:rPr>
              <a:t>적절한 규모 추천</a:t>
            </a:r>
            <a:endParaRPr lang="en-US" altLang="ko-KR" b="0" i="0" dirty="0">
              <a:effectLst/>
              <a:latin typeface="Noto Sans" panose="020B0502040504020204" pitchFamily="34" charset="0"/>
            </a:endParaRP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ko-KR" altLang="en-US" b="0" i="0" dirty="0">
                <a:effectLst/>
                <a:latin typeface="Noto Sans" panose="020B0502040504020204" pitchFamily="34" charset="0"/>
              </a:rPr>
              <a:t>트래픽 패턴을 기반으로 자동 구성</a:t>
            </a:r>
            <a:r>
              <a:rPr lang="en-GB" altLang="ko-KR" b="0" i="0" dirty="0">
                <a:effectLst/>
                <a:latin typeface="Noto Sans" panose="020B0502040504020204" pitchFamily="34" charset="0"/>
              </a:rPr>
              <a:t>(Auto Configuration)</a:t>
            </a:r>
            <a:r>
              <a:rPr lang="ko-KR" altLang="en-US" b="0" i="0" dirty="0">
                <a:effectLst/>
                <a:latin typeface="Noto Sans" panose="020B0502040504020204" pitchFamily="34" charset="0"/>
              </a:rPr>
              <a:t> 수행</a:t>
            </a:r>
            <a:endParaRPr lang="en-US" altLang="ko-KR" b="0" i="0" dirty="0">
              <a:effectLst/>
              <a:latin typeface="Noto Sans" panose="020B0502040504020204" pitchFamily="34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34B7BCF-2C76-ABAB-81FB-98518720A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6786" y="6545052"/>
            <a:ext cx="489284" cy="168703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400" kern="1200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48B1FF-3FA7-3E47-A553-4A4DADC36665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B937FA-F753-9B72-B458-2968D5CE9FA8}"/>
              </a:ext>
            </a:extLst>
          </p:cNvPr>
          <p:cNvSpPr txBox="1"/>
          <p:nvPr/>
        </p:nvSpPr>
        <p:spPr>
          <a:xfrm>
            <a:off x="1775652" y="6229040"/>
            <a:ext cx="1018070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i="0" u="none" strike="noStrike" baseline="0" dirty="0">
                <a:latin typeface="Graphik-Regular"/>
              </a:rPr>
              <a:t>Manjunath Bhat, et al., </a:t>
            </a:r>
            <a:r>
              <a:rPr lang="en-GB" sz="1600" i="0" u="none" strike="noStrike" baseline="0" dirty="0">
                <a:latin typeface="Graphik-Bold"/>
              </a:rPr>
              <a:t>How Platform Engineering Teams Can Augment DevOps With AI, Gartner Research, 2024</a:t>
            </a:r>
          </a:p>
        </p:txBody>
      </p:sp>
    </p:spTree>
    <p:extLst>
      <p:ext uri="{BB962C8B-B14F-4D97-AF65-F5344CB8AC3E}">
        <p14:creationId xmlns:p14="http://schemas.microsoft.com/office/powerpoint/2010/main" val="26402148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7CA67D1-288F-8BAF-FCCC-4228FBF18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6786" y="6545052"/>
            <a:ext cx="489284" cy="168703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400" kern="1200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48B1FF-3FA7-3E47-A553-4A4DADC36665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082C3F-58D0-E9EB-6551-0B8205CCFA83}"/>
              </a:ext>
            </a:extLst>
          </p:cNvPr>
          <p:cNvSpPr txBox="1"/>
          <p:nvPr/>
        </p:nvSpPr>
        <p:spPr>
          <a:xfrm>
            <a:off x="2020957" y="5621986"/>
            <a:ext cx="957865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i="0" u="none" strike="noStrike" baseline="0" dirty="0">
                <a:latin typeface="Graphik-Regular"/>
              </a:rPr>
              <a:t>Manjunath Bhat, et al., </a:t>
            </a:r>
            <a:r>
              <a:rPr lang="en-GB" sz="1600" i="0" u="none" strike="noStrike" baseline="0" dirty="0">
                <a:latin typeface="Graphik-Bold"/>
              </a:rPr>
              <a:t>How Platform Engineering Teams Can Augment DevOps With AI, Gartner Research, 2024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3474E24-A1BB-30C1-0E5F-2AF9FF866F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640" t="8209" r="640" b="83331"/>
          <a:stretch/>
        </p:blipFill>
        <p:spPr>
          <a:xfrm>
            <a:off x="471753" y="1539970"/>
            <a:ext cx="11384317" cy="617086"/>
          </a:xfrm>
          <a:prstGeom prst="rect">
            <a:avLst/>
          </a:prstGeom>
        </p:spPr>
      </p:pic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3FB95123-EBEE-D714-5DD3-E7BF95675CB6}"/>
              </a:ext>
            </a:extLst>
          </p:cNvPr>
          <p:cNvGraphicFramePr>
            <a:graphicFrameLocks noGrp="1"/>
          </p:cNvGraphicFramePr>
          <p:nvPr/>
        </p:nvGraphicFramePr>
        <p:xfrm>
          <a:off x="661887" y="2273997"/>
          <a:ext cx="11142476" cy="3305168"/>
        </p:xfrm>
        <a:graphic>
          <a:graphicData uri="http://schemas.openxmlformats.org/drawingml/2006/table">
            <a:tbl>
              <a:tblPr/>
              <a:tblGrid>
                <a:gridCol w="1862682">
                  <a:extLst>
                    <a:ext uri="{9D8B030D-6E8A-4147-A177-3AD203B41FA5}">
                      <a16:colId xmlns:a16="http://schemas.microsoft.com/office/drawing/2014/main" val="743491065"/>
                    </a:ext>
                  </a:extLst>
                </a:gridCol>
                <a:gridCol w="1862682">
                  <a:extLst>
                    <a:ext uri="{9D8B030D-6E8A-4147-A177-3AD203B41FA5}">
                      <a16:colId xmlns:a16="http://schemas.microsoft.com/office/drawing/2014/main" val="3415476907"/>
                    </a:ext>
                  </a:extLst>
                </a:gridCol>
                <a:gridCol w="1862682">
                  <a:extLst>
                    <a:ext uri="{9D8B030D-6E8A-4147-A177-3AD203B41FA5}">
                      <a16:colId xmlns:a16="http://schemas.microsoft.com/office/drawing/2014/main" val="3800235375"/>
                    </a:ext>
                  </a:extLst>
                </a:gridCol>
                <a:gridCol w="1862682">
                  <a:extLst>
                    <a:ext uri="{9D8B030D-6E8A-4147-A177-3AD203B41FA5}">
                      <a16:colId xmlns:a16="http://schemas.microsoft.com/office/drawing/2014/main" val="2986450539"/>
                    </a:ext>
                  </a:extLst>
                </a:gridCol>
                <a:gridCol w="1862682">
                  <a:extLst>
                    <a:ext uri="{9D8B030D-6E8A-4147-A177-3AD203B41FA5}">
                      <a16:colId xmlns:a16="http://schemas.microsoft.com/office/drawing/2014/main" val="4054860234"/>
                    </a:ext>
                  </a:extLst>
                </a:gridCol>
                <a:gridCol w="1829066">
                  <a:extLst>
                    <a:ext uri="{9D8B030D-6E8A-4147-A177-3AD203B41FA5}">
                      <a16:colId xmlns:a16="http://schemas.microsoft.com/office/drawing/2014/main" val="3048963560"/>
                    </a:ext>
                  </a:extLst>
                </a:gridCol>
              </a:tblGrid>
              <a:tr h="3305168">
                <a:tc>
                  <a:txBody>
                    <a:bodyPr/>
                    <a:lstStyle/>
                    <a:p>
                      <a:pPr marL="180975" indent="-180975" algn="l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ko-KR" altLang="en-US" sz="1400" dirty="0">
                          <a:effectLst/>
                        </a:rPr>
                        <a:t>요구사항</a:t>
                      </a:r>
                      <a:br>
                        <a:rPr lang="ko-KR" altLang="en-US" sz="1400" dirty="0">
                          <a:effectLst/>
                        </a:rPr>
                      </a:br>
                      <a:r>
                        <a:rPr lang="ko-KR" altLang="en-US" sz="1400" dirty="0">
                          <a:effectLst/>
                        </a:rPr>
                        <a:t>우선순위 지정</a:t>
                      </a:r>
                      <a:endParaRPr lang="en-GB" altLang="ko-KR" sz="1400" dirty="0">
                        <a:effectLst/>
                      </a:endParaRPr>
                    </a:p>
                    <a:p>
                      <a:pPr marL="180975" indent="-180975" algn="l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ko-KR" altLang="en-US" sz="1400" dirty="0">
                          <a:effectLst/>
                        </a:rPr>
                        <a:t>아이디어 생성</a:t>
                      </a:r>
                      <a:endParaRPr lang="en-GB" altLang="ko-KR" sz="1400" dirty="0">
                        <a:effectLst/>
                      </a:endParaRPr>
                    </a:p>
                    <a:p>
                      <a:pPr marL="180975" indent="-180975" algn="l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GB" altLang="ko-KR" sz="1400" dirty="0">
                          <a:effectLst/>
                        </a:rPr>
                        <a:t>Backlog</a:t>
                      </a:r>
                      <a:r>
                        <a:rPr lang="ko-KR" altLang="en-US" sz="1400" dirty="0">
                          <a:effectLst/>
                        </a:rPr>
                        <a:t> 분류</a:t>
                      </a:r>
                      <a:r>
                        <a:rPr lang="en-GB" altLang="ko-KR" sz="1400" dirty="0">
                          <a:effectLst/>
                        </a:rPr>
                        <a:t>(Triage)</a:t>
                      </a:r>
                    </a:p>
                    <a:p>
                      <a:pPr marL="180975" indent="-180975" algn="l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ko-KR" altLang="en-US" sz="1400" dirty="0">
                          <a:effectLst/>
                        </a:rPr>
                        <a:t>요구사항 정제</a:t>
                      </a:r>
                      <a:endParaRPr lang="en-GB" altLang="ko-KR" sz="1400" dirty="0">
                        <a:effectLst/>
                      </a:endParaRPr>
                    </a:p>
                    <a:p>
                      <a:pPr marL="180975" indent="-180975" algn="l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ko-KR" altLang="en-US" sz="1400" dirty="0">
                          <a:effectLst/>
                        </a:rPr>
                        <a:t>사용자 스토리생성</a:t>
                      </a:r>
                      <a:endParaRPr lang="en-GB" altLang="ko-KR" sz="1400" dirty="0">
                        <a:effectLst/>
                      </a:endParaRPr>
                    </a:p>
                    <a:p>
                      <a:pPr marL="180975" indent="-180975" algn="l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ko-KR" altLang="en-US" sz="1400" dirty="0">
                          <a:effectLst/>
                        </a:rPr>
                        <a:t>승인 테스트 기준</a:t>
                      </a:r>
                      <a:br>
                        <a:rPr lang="ko-KR" altLang="en-US" sz="1400" dirty="0">
                          <a:effectLst/>
                        </a:rPr>
                      </a:br>
                      <a:r>
                        <a:rPr lang="ko-KR" altLang="en-US" sz="1400" dirty="0">
                          <a:effectLst/>
                        </a:rPr>
                        <a:t>생성</a:t>
                      </a:r>
                      <a:endParaRPr lang="en-GB" altLang="ko-KR" sz="1400" dirty="0">
                        <a:effectLst/>
                      </a:endParaRPr>
                    </a:p>
                    <a:p>
                      <a:pPr marL="180975" indent="-180975" algn="l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ko-KR" altLang="en-US" sz="1400" dirty="0">
                          <a:effectLst/>
                        </a:rPr>
                        <a:t>릴리스 계획 생성</a:t>
                      </a:r>
                      <a:endParaRPr lang="en-GB" altLang="ko-KR" sz="1400" dirty="0">
                        <a:effectLst/>
                      </a:endParaRPr>
                    </a:p>
                    <a:p>
                      <a:pPr marL="180975" indent="-180975" algn="l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ko-KR" altLang="en-US" sz="1400" dirty="0">
                          <a:effectLst/>
                        </a:rPr>
                        <a:t>위협</a:t>
                      </a:r>
                      <a:r>
                        <a:rPr lang="en-GB" altLang="ko-KR" sz="1400" dirty="0">
                          <a:effectLst/>
                        </a:rPr>
                        <a:t>(Threat)</a:t>
                      </a:r>
                      <a:br>
                        <a:rPr lang="ko-KR" altLang="en-US" sz="1400" dirty="0">
                          <a:effectLst/>
                        </a:rPr>
                      </a:br>
                      <a:r>
                        <a:rPr lang="ko-KR" altLang="en-US" sz="1400" dirty="0">
                          <a:effectLst/>
                        </a:rPr>
                        <a:t>모델링</a:t>
                      </a:r>
                    </a:p>
                  </a:txBody>
                  <a:tcPr marT="50006" marB="5000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6213" indent="-176213" algn="l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 err="1">
                          <a:effectLst/>
                        </a:rPr>
                        <a:t>아키텍트</a:t>
                      </a:r>
                      <a:endParaRPr lang="en-GB" altLang="ko-KR" sz="1400" dirty="0">
                        <a:effectLst/>
                      </a:endParaRPr>
                    </a:p>
                    <a:p>
                      <a:pPr marL="176213" indent="-176213" algn="l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>
                          <a:effectLst/>
                        </a:rPr>
                        <a:t>설계</a:t>
                      </a:r>
                      <a:endParaRPr lang="en-GB" altLang="ko-KR" sz="1400" dirty="0">
                        <a:effectLst/>
                      </a:endParaRPr>
                    </a:p>
                    <a:p>
                      <a:pPr marL="176213" indent="-176213" algn="l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>
                          <a:effectLst/>
                        </a:rPr>
                        <a:t>코드</a:t>
                      </a:r>
                      <a:endParaRPr lang="en-GB" altLang="ko-KR" sz="1400" dirty="0">
                        <a:effectLst/>
                      </a:endParaRPr>
                    </a:p>
                    <a:p>
                      <a:pPr marL="176213" indent="-176213" algn="l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>
                          <a:effectLst/>
                        </a:rPr>
                        <a:t>검색</a:t>
                      </a:r>
                      <a:r>
                        <a:rPr lang="en-GB" altLang="ko-KR" sz="1400" dirty="0">
                          <a:effectLst/>
                        </a:rPr>
                        <a:t>/</a:t>
                      </a:r>
                      <a:r>
                        <a:rPr lang="ko-KR" altLang="en-US" sz="1400" dirty="0">
                          <a:effectLst/>
                        </a:rPr>
                        <a:t>발견</a:t>
                      </a:r>
                      <a:endParaRPr lang="en-GB" altLang="ko-KR" sz="1400" dirty="0">
                        <a:effectLst/>
                      </a:endParaRPr>
                    </a:p>
                    <a:p>
                      <a:pPr marL="176213" indent="-176213" algn="l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>
                          <a:effectLst/>
                        </a:rPr>
                        <a:t>테스트</a:t>
                      </a:r>
                      <a:endParaRPr lang="en-GB" altLang="ko-KR" sz="1400" dirty="0">
                        <a:effectLst/>
                      </a:endParaRPr>
                    </a:p>
                    <a:p>
                      <a:pPr marL="176213" indent="-176213" algn="l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>
                          <a:effectLst/>
                        </a:rPr>
                        <a:t>디버그</a:t>
                      </a:r>
                      <a:endParaRPr lang="en-GB" altLang="ko-KR" sz="1400" dirty="0">
                        <a:effectLst/>
                      </a:endParaRPr>
                    </a:p>
                    <a:p>
                      <a:pPr marL="176213" indent="-176213" algn="l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 err="1">
                          <a:effectLst/>
                        </a:rPr>
                        <a:t>리펙토링</a:t>
                      </a:r>
                      <a:endParaRPr lang="en-GB" altLang="ko-KR" sz="1400" dirty="0">
                        <a:effectLst/>
                      </a:endParaRPr>
                    </a:p>
                    <a:p>
                      <a:pPr marL="176213" indent="-176213" algn="l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>
                          <a:effectLst/>
                        </a:rPr>
                        <a:t>정적 코드분석 수행</a:t>
                      </a:r>
                      <a:endParaRPr lang="en-GB" altLang="ko-KR" sz="1400" dirty="0">
                        <a:effectLst/>
                      </a:endParaRPr>
                    </a:p>
                    <a:p>
                      <a:pPr marL="176213" indent="-176213" algn="l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>
                          <a:effectLst/>
                        </a:rPr>
                        <a:t>코드 리뷰와 변경사항  </a:t>
                      </a:r>
                      <a:r>
                        <a:rPr lang="ko-KR" altLang="en-US" sz="1400" dirty="0" err="1">
                          <a:effectLst/>
                        </a:rPr>
                        <a:t>머지</a:t>
                      </a:r>
                      <a:endParaRPr lang="ko-KR" altLang="en-US" sz="1400" dirty="0">
                        <a:effectLst/>
                      </a:endParaRPr>
                    </a:p>
                  </a:txBody>
                  <a:tcPr marT="50006" marB="5000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6213" indent="-176213" algn="l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>
                          <a:effectLst/>
                        </a:rPr>
                        <a:t>빌드 파이프라인 코드 작성</a:t>
                      </a:r>
                      <a:endParaRPr lang="en-GB" altLang="ko-KR" sz="1400" dirty="0">
                        <a:effectLst/>
                      </a:endParaRPr>
                    </a:p>
                    <a:p>
                      <a:pPr marL="176213" indent="-176213" algn="l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>
                          <a:effectLst/>
                        </a:rPr>
                        <a:t>단위테스트 수행</a:t>
                      </a:r>
                      <a:endParaRPr lang="en-GB" altLang="ko-KR" sz="1400" dirty="0">
                        <a:effectLst/>
                      </a:endParaRPr>
                    </a:p>
                    <a:p>
                      <a:pPr marL="176213" indent="-176213" algn="l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>
                          <a:effectLst/>
                        </a:rPr>
                        <a:t>보안 스캔 수행</a:t>
                      </a:r>
                      <a:endParaRPr lang="en-GB" altLang="ko-KR" sz="1400" dirty="0">
                        <a:effectLst/>
                      </a:endParaRPr>
                    </a:p>
                    <a:p>
                      <a:pPr marL="176213" indent="-176213" algn="l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GB" altLang="ko-KR" sz="1400" dirty="0">
                          <a:effectLst/>
                        </a:rPr>
                        <a:t>Fitness function </a:t>
                      </a:r>
                      <a:r>
                        <a:rPr lang="ko-KR" altLang="en-US" sz="1400" dirty="0">
                          <a:effectLst/>
                        </a:rPr>
                        <a:t>수행</a:t>
                      </a:r>
                      <a:endParaRPr lang="en-GB" altLang="ko-KR" sz="1400" dirty="0">
                        <a:effectLst/>
                      </a:endParaRPr>
                    </a:p>
                    <a:p>
                      <a:pPr marL="176213" indent="-176213" algn="l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 err="1">
                          <a:effectLst/>
                        </a:rPr>
                        <a:t>빌드오류</a:t>
                      </a:r>
                      <a:r>
                        <a:rPr lang="ko-KR" altLang="en-US" sz="1400" dirty="0">
                          <a:effectLst/>
                        </a:rPr>
                        <a:t> 디버깅</a:t>
                      </a:r>
                      <a:r>
                        <a:rPr lang="en-GB" altLang="ko-KR" sz="1400" dirty="0">
                          <a:effectLst/>
                        </a:rPr>
                        <a:t>/</a:t>
                      </a:r>
                      <a:r>
                        <a:rPr lang="ko-KR" altLang="en-US" sz="1400" dirty="0">
                          <a:effectLst/>
                        </a:rPr>
                        <a:t>수정</a:t>
                      </a:r>
                      <a:endParaRPr lang="en-GB" altLang="ko-KR" sz="1400" dirty="0">
                        <a:effectLst/>
                      </a:endParaRPr>
                    </a:p>
                    <a:p>
                      <a:pPr marL="176213" indent="-176213" algn="l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>
                          <a:effectLst/>
                        </a:rPr>
                        <a:t>빌드</a:t>
                      </a:r>
                      <a:endParaRPr lang="en-GB" altLang="ko-KR" sz="1400" dirty="0">
                        <a:effectLst/>
                      </a:endParaRPr>
                    </a:p>
                    <a:p>
                      <a:pPr marL="176213" indent="-176213" algn="l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>
                          <a:effectLst/>
                        </a:rPr>
                        <a:t>테스트 환경 구축</a:t>
                      </a:r>
                      <a:endParaRPr lang="en-GB" altLang="ko-KR" sz="1400" dirty="0">
                        <a:effectLst/>
                      </a:endParaRPr>
                    </a:p>
                    <a:p>
                      <a:pPr marL="176213" indent="-176213" algn="l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>
                          <a:effectLst/>
                        </a:rPr>
                        <a:t>배포</a:t>
                      </a:r>
                      <a:endParaRPr lang="en-GB" altLang="ko-KR" sz="1400" dirty="0">
                        <a:effectLst/>
                      </a:endParaRPr>
                    </a:p>
                    <a:p>
                      <a:pPr marL="176213" indent="-176213" algn="l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>
                          <a:effectLst/>
                        </a:rPr>
                        <a:t>실시간 점검</a:t>
                      </a:r>
                      <a:endParaRPr lang="en-GB" altLang="ko-KR" sz="1400" dirty="0">
                        <a:effectLst/>
                      </a:endParaRPr>
                    </a:p>
                  </a:txBody>
                  <a:tcPr marT="50006" marB="5000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6213" marR="0" lvl="0" indent="-1762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400" dirty="0">
                          <a:effectLst/>
                        </a:rPr>
                        <a:t>피처 관리</a:t>
                      </a:r>
                      <a:endParaRPr lang="en-GB" altLang="ko-KR" sz="1400" dirty="0">
                        <a:effectLst/>
                      </a:endParaRP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400" dirty="0">
                          <a:effectLst/>
                        </a:rPr>
                        <a:t>변경 영향 분석</a:t>
                      </a:r>
                      <a:endParaRPr lang="en-GB" altLang="ko-KR" sz="1400" dirty="0">
                        <a:effectLst/>
                      </a:endParaRP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400" dirty="0">
                          <a:effectLst/>
                        </a:rPr>
                        <a:t>승인 테스트</a:t>
                      </a:r>
                      <a:endParaRPr lang="en-GB" altLang="ko-KR" sz="1400" dirty="0">
                        <a:effectLst/>
                      </a:endParaRP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400" dirty="0">
                          <a:effectLst/>
                        </a:rPr>
                        <a:t>운영 </a:t>
                      </a:r>
                      <a:r>
                        <a:rPr lang="en-GB" altLang="ko-KR" sz="1400" dirty="0">
                          <a:effectLst/>
                        </a:rPr>
                        <a:t>Readiness </a:t>
                      </a:r>
                      <a:r>
                        <a:rPr lang="ko-KR" altLang="en-US" sz="1400" dirty="0">
                          <a:effectLst/>
                        </a:rPr>
                        <a:t>테스트</a:t>
                      </a:r>
                      <a:endParaRPr lang="en-GB" altLang="ko-KR" sz="1400" dirty="0">
                        <a:effectLst/>
                      </a:endParaRP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400" dirty="0">
                          <a:effectLst/>
                        </a:rPr>
                        <a:t>성능시험</a:t>
                      </a:r>
                      <a:r>
                        <a:rPr lang="en-GB" altLang="ko-KR" sz="1400" dirty="0">
                          <a:effectLst/>
                        </a:rPr>
                        <a:t>, Chaos </a:t>
                      </a:r>
                      <a:r>
                        <a:rPr lang="ko-KR" altLang="en-US" sz="1400" dirty="0">
                          <a:effectLst/>
                        </a:rPr>
                        <a:t>시험</a:t>
                      </a:r>
                      <a:endParaRPr lang="en-GB" altLang="ko-KR" sz="1400" dirty="0">
                        <a:effectLst/>
                      </a:endParaRP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400" dirty="0">
                          <a:effectLst/>
                        </a:rPr>
                        <a:t>테스트 백업과 복구</a:t>
                      </a:r>
                      <a:endParaRPr lang="en-GB" altLang="ko-KR" sz="1400" dirty="0">
                        <a:effectLst/>
                      </a:endParaRP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400" dirty="0">
                          <a:effectLst/>
                        </a:rPr>
                        <a:t>변경사항검증</a:t>
                      </a:r>
                      <a:r>
                        <a:rPr lang="en-GB" altLang="ko-KR" sz="1400" dirty="0">
                          <a:effectLst/>
                        </a:rPr>
                        <a:t>/</a:t>
                      </a:r>
                      <a:r>
                        <a:rPr lang="ko-KR" altLang="en-US" sz="1400" dirty="0">
                          <a:effectLst/>
                        </a:rPr>
                        <a:t>배포</a:t>
                      </a:r>
                      <a:endParaRPr lang="en-GB" altLang="ko-KR" sz="1400" dirty="0">
                        <a:effectLst/>
                      </a:endParaRP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400" dirty="0">
                          <a:effectLst/>
                        </a:rPr>
                        <a:t>승인</a:t>
                      </a:r>
                      <a:endParaRPr lang="en-US" altLang="ko-KR" sz="1400" dirty="0">
                        <a:effectLst/>
                      </a:endParaRPr>
                    </a:p>
                  </a:txBody>
                  <a:tcPr marT="50006" marB="5000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6213" marR="0" lvl="0" indent="-1762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altLang="ko-KR" sz="1400" dirty="0">
                          <a:effectLst/>
                        </a:rPr>
                        <a:t>Config </a:t>
                      </a:r>
                      <a:r>
                        <a:rPr lang="ko-KR" altLang="en-US" sz="1400" dirty="0">
                          <a:effectLst/>
                        </a:rPr>
                        <a:t>스크립트</a:t>
                      </a:r>
                      <a:r>
                        <a:rPr lang="en-GB" altLang="ko-KR" sz="1400" dirty="0">
                          <a:effectLst/>
                        </a:rPr>
                        <a:t> </a:t>
                      </a:r>
                      <a:r>
                        <a:rPr lang="ko-KR" altLang="en-US" sz="1400" dirty="0">
                          <a:effectLst/>
                        </a:rPr>
                        <a:t>생성</a:t>
                      </a:r>
                      <a:endParaRPr lang="en-GB" altLang="ko-KR" sz="1400" dirty="0">
                        <a:effectLst/>
                      </a:endParaRP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altLang="ko-KR" sz="1400" dirty="0">
                          <a:effectLst/>
                        </a:rPr>
                        <a:t>Config </a:t>
                      </a:r>
                      <a:r>
                        <a:rPr lang="ko-KR" altLang="en-US" sz="1400" dirty="0">
                          <a:effectLst/>
                        </a:rPr>
                        <a:t>정책 자동화</a:t>
                      </a:r>
                      <a:endParaRPr lang="en-GB" altLang="ko-KR" sz="1400" dirty="0">
                        <a:effectLst/>
                      </a:endParaRP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400" dirty="0">
                          <a:effectLst/>
                        </a:rPr>
                        <a:t>형상 차이 발견</a:t>
                      </a:r>
                      <a:endParaRPr lang="en-GB" altLang="ko-KR" sz="1400" dirty="0">
                        <a:effectLst/>
                      </a:endParaRP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400" dirty="0">
                          <a:effectLst/>
                        </a:rPr>
                        <a:t>형상 차이 정정</a:t>
                      </a:r>
                      <a:endParaRPr lang="en-GB" altLang="ko-KR" sz="1400" dirty="0">
                        <a:effectLst/>
                      </a:endParaRP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altLang="ko-KR" sz="1400" dirty="0">
                          <a:effectLst/>
                        </a:rPr>
                        <a:t>Config</a:t>
                      </a:r>
                      <a:r>
                        <a:rPr lang="ko-KR" altLang="en-US" sz="1400" dirty="0">
                          <a:effectLst/>
                        </a:rPr>
                        <a:t>통제 구현</a:t>
                      </a:r>
                      <a:endParaRPr lang="en-GB" altLang="ko-KR" sz="1400" dirty="0">
                        <a:effectLst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400" dirty="0">
                        <a:effectLst/>
                      </a:endParaRPr>
                    </a:p>
                  </a:txBody>
                  <a:tcPr marT="50006" marB="5000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6213" indent="-176213" algn="l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>
                          <a:effectLst/>
                        </a:rPr>
                        <a:t>사건 대응</a:t>
                      </a:r>
                      <a:endParaRPr lang="en-GB" altLang="ko-KR" sz="1400" dirty="0">
                        <a:effectLst/>
                      </a:endParaRPr>
                    </a:p>
                    <a:p>
                      <a:pPr marL="176213" indent="-176213" algn="l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>
                          <a:effectLst/>
                        </a:rPr>
                        <a:t>서비스 수준 모니터링</a:t>
                      </a:r>
                      <a:endParaRPr lang="en-GB" altLang="ko-KR" sz="1400" dirty="0">
                        <a:effectLst/>
                      </a:endParaRPr>
                    </a:p>
                    <a:p>
                      <a:pPr marL="176213" indent="-176213" algn="l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GB" altLang="ko-KR" sz="1400" dirty="0">
                          <a:effectLst/>
                        </a:rPr>
                        <a:t>Log, metric, trace</a:t>
                      </a:r>
                      <a:r>
                        <a:rPr lang="ko-KR" altLang="en-US" sz="1400" dirty="0">
                          <a:effectLst/>
                        </a:rPr>
                        <a:t>분석</a:t>
                      </a:r>
                      <a:endParaRPr lang="en-GB" altLang="ko-KR" sz="1400" dirty="0">
                        <a:effectLst/>
                      </a:endParaRPr>
                    </a:p>
                    <a:p>
                      <a:pPr marL="176213" indent="-176213" algn="l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>
                          <a:effectLst/>
                        </a:rPr>
                        <a:t>근본원인 분석</a:t>
                      </a:r>
                      <a:endParaRPr lang="en-GB" altLang="ko-KR" sz="1400" dirty="0">
                        <a:effectLst/>
                      </a:endParaRPr>
                    </a:p>
                    <a:p>
                      <a:pPr marL="176213" indent="-176213" algn="l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GB" altLang="ko-KR" sz="1400" dirty="0">
                          <a:effectLst/>
                        </a:rPr>
                        <a:t>Alert </a:t>
                      </a:r>
                      <a:r>
                        <a:rPr lang="ko-KR" altLang="en-US" sz="1400" dirty="0">
                          <a:effectLst/>
                        </a:rPr>
                        <a:t>분류</a:t>
                      </a:r>
                      <a:endParaRPr lang="en-GB" altLang="ko-KR" sz="1400" dirty="0">
                        <a:effectLst/>
                      </a:endParaRPr>
                    </a:p>
                    <a:p>
                      <a:pPr marL="176213" indent="-176213" algn="l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>
                          <a:effectLst/>
                        </a:rPr>
                        <a:t>실패 복구</a:t>
                      </a:r>
                      <a:endParaRPr lang="en-GB" altLang="ko-KR" sz="1400" dirty="0">
                        <a:effectLst/>
                      </a:endParaRPr>
                    </a:p>
                    <a:p>
                      <a:pPr marL="176213" indent="-176213" algn="l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>
                          <a:effectLst/>
                        </a:rPr>
                        <a:t>클라우드 운영</a:t>
                      </a:r>
                    </a:p>
                  </a:txBody>
                  <a:tcPr marT="50006" marB="5000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7468385"/>
                  </a:ext>
                </a:extLst>
              </a:tr>
            </a:tbl>
          </a:graphicData>
        </a:graphic>
      </p:graphicFrame>
      <p:sp>
        <p:nvSpPr>
          <p:cNvPr id="3" name="제목 1">
            <a:extLst>
              <a:ext uri="{FF2B5EF4-FFF2-40B4-BE49-F238E27FC236}">
                <a16:creationId xmlns:a16="http://schemas.microsoft.com/office/drawing/2014/main" id="{0DDFDD86-C0DD-4092-06FD-24DD80ABF190}"/>
              </a:ext>
            </a:extLst>
          </p:cNvPr>
          <p:cNvSpPr txBox="1">
            <a:spLocks/>
          </p:cNvSpPr>
          <p:nvPr/>
        </p:nvSpPr>
        <p:spPr>
          <a:xfrm>
            <a:off x="396240" y="109982"/>
            <a:ext cx="11211969" cy="5710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altLang="ko-KR" sz="3200" b="1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r>
              <a:rPr lang="ko-KR" altLang="en-US" dirty="0">
                <a:solidFill>
                  <a:srgbClr val="FF0000"/>
                </a:solidFill>
              </a:rPr>
              <a:t>참고</a:t>
            </a:r>
            <a:r>
              <a:rPr lang="en-GB" altLang="ko-KR" dirty="0">
                <a:solidFill>
                  <a:srgbClr val="FF0000"/>
                </a:solidFill>
              </a:rPr>
              <a:t>. AI-</a:t>
            </a:r>
            <a:r>
              <a:rPr lang="ko-KR" altLang="en-US" dirty="0">
                <a:solidFill>
                  <a:srgbClr val="FF0000"/>
                </a:solidFill>
              </a:rPr>
              <a:t>증강 </a:t>
            </a:r>
            <a:r>
              <a:rPr lang="en-GB" altLang="ko-KR" dirty="0">
                <a:solidFill>
                  <a:srgbClr val="FF0000"/>
                </a:solidFill>
              </a:rPr>
              <a:t>DevOps </a:t>
            </a:r>
            <a:r>
              <a:rPr lang="ko-KR" altLang="en-US" dirty="0">
                <a:solidFill>
                  <a:srgbClr val="FF0000"/>
                </a:solidFill>
              </a:rPr>
              <a:t>적용 전략 예시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34B69D79-647B-7D14-2CD1-72518C46FB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7637" y="893135"/>
            <a:ext cx="11211970" cy="5651917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ko-KR" dirty="0">
                <a:latin typeface="Pretendard Variable"/>
              </a:rPr>
              <a:t>SDLC </a:t>
            </a:r>
            <a:r>
              <a:rPr lang="ko-KR" altLang="en-US" dirty="0">
                <a:latin typeface="Pretendard Variable"/>
              </a:rPr>
              <a:t>단계별 가장 큰 제약사항에 적용</a:t>
            </a:r>
            <a:endParaRPr lang="en-US" altLang="ko-KR" b="0" i="0" dirty="0">
              <a:effectLst/>
              <a:latin typeface="Noto Sans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19315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4BC1AE-5907-B30C-BFBE-81053B615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참고</a:t>
            </a:r>
            <a:r>
              <a:rPr lang="en-GB" altLang="ko-KR" dirty="0"/>
              <a:t>. </a:t>
            </a:r>
            <a:r>
              <a:rPr lang="ko-KR" altLang="en-US" dirty="0" err="1"/>
              <a:t>커넥티드</a:t>
            </a:r>
            <a:r>
              <a:rPr lang="ko-KR" altLang="en-US" dirty="0"/>
              <a:t> 카</a:t>
            </a:r>
            <a:r>
              <a:rPr lang="en-GB" altLang="ko-KR" dirty="0"/>
              <a:t>, </a:t>
            </a:r>
            <a:r>
              <a:rPr lang="ko-KR" altLang="en-US" dirty="0"/>
              <a:t>자율주행차 설계를 위한 </a:t>
            </a:r>
            <a:r>
              <a:rPr lang="en-GB" altLang="ko-KR" dirty="0"/>
              <a:t>AI </a:t>
            </a:r>
            <a:r>
              <a:rPr lang="ko-KR" altLang="en-US" dirty="0"/>
              <a:t>활용 현황</a:t>
            </a:r>
            <a:endParaRPr lang="en-GB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663299E-ED8F-A921-35A0-7C3479CE69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altLang="ko-KR" b="1" dirty="0"/>
              <a:t>2025 State of Automotive Software Development Report, </a:t>
            </a:r>
            <a:r>
              <a:rPr lang="en-US" altLang="ko-KR" b="1" dirty="0">
                <a:hlinkClick r:id="rId3"/>
              </a:rPr>
              <a:t>Perforce Software</a:t>
            </a:r>
            <a:endParaRPr lang="en-US" altLang="ko-KR" b="1" dirty="0"/>
          </a:p>
          <a:p>
            <a:endParaRPr lang="en-US" b="1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ko-KR" altLang="en-US" sz="1800" dirty="0"/>
              <a:t>응답자의 </a:t>
            </a:r>
            <a:r>
              <a:rPr lang="en-US" altLang="ko-KR" sz="1800" dirty="0"/>
              <a:t>42%,</a:t>
            </a:r>
            <a:br>
              <a:rPr lang="en-GB" altLang="ko-KR" sz="1800" dirty="0"/>
            </a:br>
            <a:r>
              <a:rPr lang="ko-KR" altLang="en-US" sz="1800" dirty="0"/>
              <a:t>완전자율주행차 설계에 </a:t>
            </a:r>
            <a:r>
              <a:rPr lang="en-US" altLang="ko-KR" sz="1800" dirty="0"/>
              <a:t>AI</a:t>
            </a:r>
            <a:r>
              <a:rPr lang="ko-KR" altLang="en-US" sz="1800" dirty="0"/>
              <a:t>를</a:t>
            </a:r>
            <a:br>
              <a:rPr lang="en-GB" altLang="ko-KR" sz="1800" dirty="0"/>
            </a:br>
            <a:r>
              <a:rPr lang="ko-KR" altLang="en-US" sz="1800" dirty="0"/>
              <a:t>적극적으로 활용하고 있다</a:t>
            </a:r>
            <a:br>
              <a:rPr lang="en-GB" altLang="ko-KR" sz="1800" dirty="0"/>
            </a:br>
            <a:r>
              <a:rPr lang="en-GB" altLang="ko-KR" sz="1800" dirty="0"/>
              <a:t>(</a:t>
            </a:r>
            <a:r>
              <a:rPr lang="ko-KR" altLang="en-US" sz="1800" dirty="0"/>
              <a:t>전년 대비 </a:t>
            </a:r>
            <a:r>
              <a:rPr lang="en-GB" altLang="ko-KR" sz="1800" dirty="0"/>
              <a:t>5% </a:t>
            </a:r>
            <a:r>
              <a:rPr lang="ko-KR" altLang="en-US" sz="1800" dirty="0"/>
              <a:t>증가</a:t>
            </a:r>
            <a:r>
              <a:rPr lang="en-GB" altLang="ko-KR" sz="1800" dirty="0"/>
              <a:t>)</a:t>
            </a:r>
            <a:endParaRPr lang="en-GB" sz="1800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7C21825-DCD1-6BE2-6AD4-CB96CE930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6786" y="6545052"/>
            <a:ext cx="489284" cy="168703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400" kern="1200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48B1FF-3FA7-3E47-A553-4A4DADC36665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D170E2C-7786-7DAB-61E8-22940F81245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8329"/>
          <a:stretch>
            <a:fillRect/>
          </a:stretch>
        </p:blipFill>
        <p:spPr>
          <a:xfrm>
            <a:off x="4609215" y="1398275"/>
            <a:ext cx="7118624" cy="513963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FC823DBC-01D9-BD61-B50D-C0E20551FE5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534" t="83282" r="13500"/>
          <a:stretch>
            <a:fillRect/>
          </a:stretch>
        </p:blipFill>
        <p:spPr>
          <a:xfrm>
            <a:off x="464161" y="3429000"/>
            <a:ext cx="4462839" cy="95161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6A478CE-D3C1-9DE4-6184-5AFAFC80BF1D}"/>
              </a:ext>
            </a:extLst>
          </p:cNvPr>
          <p:cNvSpPr txBox="1"/>
          <p:nvPr/>
        </p:nvSpPr>
        <p:spPr>
          <a:xfrm>
            <a:off x="4140289" y="4686457"/>
            <a:ext cx="32223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dirty="0"/>
              <a:t>* HVAC: Heating, Ventilation, and Air Conditioning</a:t>
            </a:r>
          </a:p>
        </p:txBody>
      </p:sp>
    </p:spTree>
    <p:extLst>
      <p:ext uri="{BB962C8B-B14F-4D97-AF65-F5344CB8AC3E}">
        <p14:creationId xmlns:p14="http://schemas.microsoft.com/office/powerpoint/2010/main" val="31763786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5694" y="1107608"/>
            <a:ext cx="5520612" cy="5095950"/>
          </a:xfrm>
          <a:prstGeom prst="rect">
            <a:avLst/>
          </a:prstGeom>
        </p:spPr>
      </p:pic>
      <p:sp>
        <p:nvSpPr>
          <p:cNvPr id="9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Questions &amp; Answers</a:t>
            </a:r>
            <a:endParaRPr lang="ko-KR" altLang="en-US" dirty="0"/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2BCDE8F7-FBF2-E625-BAFD-23BD26B9BC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495" y="913479"/>
            <a:ext cx="11577869" cy="4992709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B48B1FF-3FA7-3E47-A553-4A4DADC3666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7694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38427</TotalTime>
  <Words>750</Words>
  <Application>Microsoft Office PowerPoint</Application>
  <PresentationFormat>와이드스크린</PresentationFormat>
  <Paragraphs>115</Paragraphs>
  <Slides>9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9" baseType="lpstr">
      <vt:lpstr>__fkGroteskNeue_598ab8</vt:lpstr>
      <vt:lpstr>Adobe 고딕 Std B</vt:lpstr>
      <vt:lpstr>Graphik-Bold</vt:lpstr>
      <vt:lpstr>Graphik-Regular</vt:lpstr>
      <vt:lpstr>Pretendard Variable</vt:lpstr>
      <vt:lpstr>맑은 고딕</vt:lpstr>
      <vt:lpstr>Arial</vt:lpstr>
      <vt:lpstr>Calibri</vt:lpstr>
      <vt:lpstr>Noto Sans</vt:lpstr>
      <vt:lpstr>Office Theme</vt:lpstr>
      <vt:lpstr>소프트웨어 공학   팀과제 2. 프로젝트 환경 계획을 위한 도구 조사</vt:lpstr>
      <vt:lpstr>팀과제 2. 프로젝트 환경 계획을 위한 도구 조사</vt:lpstr>
      <vt:lpstr>조사 대상 도구 카테고리</vt:lpstr>
      <vt:lpstr>참고. CI/CD (Continuous Integration/Continuous Delivery)</vt:lpstr>
      <vt:lpstr>참고. DevOps 툴 체인 </vt:lpstr>
      <vt:lpstr>참고. AI-증강 DevOps를 위한 세가지 접근 방식</vt:lpstr>
      <vt:lpstr>PowerPoint 프레젠테이션</vt:lpstr>
      <vt:lpstr>참고. 커넥티드 카, 자율주행차 설계를 위한 AI 활용 현황</vt:lpstr>
      <vt:lpstr>Questions &amp; Answers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Engineering  chap 1. Introduction</dc:title>
  <dc:creator>Microsoft Office User</dc:creator>
  <cp:lastModifiedBy>최수진</cp:lastModifiedBy>
  <cp:revision>185</cp:revision>
  <cp:lastPrinted>2025-09-09T14:14:45Z</cp:lastPrinted>
  <dcterms:created xsi:type="dcterms:W3CDTF">2016-03-01T07:34:49Z</dcterms:created>
  <dcterms:modified xsi:type="dcterms:W3CDTF">2025-10-16T15:56:27Z</dcterms:modified>
</cp:coreProperties>
</file>